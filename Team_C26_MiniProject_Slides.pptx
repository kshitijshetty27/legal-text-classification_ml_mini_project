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61F"/>
                </a:solidFill>
                <a:latin typeface="+mn-lt"/>
              </a:defRPr>
            </a:pPr>
            <a:r>
              <a:rPr sz="1400" b="0" i="0" u="none" strike="noStrike">
                <a:solidFill>
                  <a:srgbClr val="10261F"/>
                </a:solidFill>
                <a:latin typeface="+mn-lt"/>
              </a:rPr>
              <a:t>Test set performance</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1D4034"/>
            </a:solidFill>
            <a:effectLst/>
          </c:spPr>
          <c:invertIfNegative val="0"/>
          <c:dLbls>
            <c:numFmt formatCode="0.00" sourceLinked="0"/>
            <c:txPr>
              <a:bodyPr/>
              <a:lstStyle/>
              <a:p>
                <a:pPr>
                  <a:defRPr b="0" i="0" strike="noStrike" sz="1100" u="none">
                    <a:solidFill>
                      <a:srgbClr val="10261F"/>
                    </a:solidFill>
                    <a:latin typeface="+mn-lt"/>
                  </a:defRPr>
                </a:pPr>
              </a:p>
            </c:txPr>
            <c:showLegendKey val="0"/>
            <c:showVal val="1"/>
            <c:showCatName val="0"/>
            <c:showSerName val="0"/>
            <c:showPercent val="0"/>
            <c:showBubbleSize val="0"/>
            <c:showLeaderLines val="0"/>
          </c:dLbls>
          <c:cat>
            <c:multiLvlStrRef>
              <c:f>Sheet1!$A$2:$A$5</c:f>
              <c:multiLvlStrCache>
                <c:ptCount val="4"/>
                <c:lvl>
                  <c:pt idx="0">
                    <c:v>Majority</c:v>
                  </c:pt>
                  <c:pt idx="1">
                    <c:v>LDA + LogReg</c:v>
                  </c:pt>
                  <c:pt idx="2">
                    <c:v>Doc2Vec + LogReg</c:v>
                  </c:pt>
                  <c:pt idx="3">
                    <c:v>TF-IDF + Linear SVM</c:v>
                  </c:pt>
                </c:lvl>
              </c:multiLvlStrCache>
            </c:multiLvlStrRef>
          </c:cat>
          <c:val>
            <c:numRef>
              <c:f>Sheet1!$B$2:$B$5</c:f>
              <c:numCache>
                <c:formatCode>General</c:formatCode>
                <c:ptCount val="4"/>
                <c:pt idx="0">
                  <c:v>0.2304</c:v>
                </c:pt>
                <c:pt idx="1">
                  <c:v>0.5816</c:v>
                </c:pt>
                <c:pt idx="2">
                  <c:v>0.6696</c:v>
                </c:pt>
                <c:pt idx="3">
                  <c:v>0.8176</c:v>
                </c:pt>
              </c:numCache>
            </c:numRef>
          </c:val>
        </c:ser>
        <c:ser>
          <c:idx val="1"/>
          <c:order val="1"/>
          <c:tx>
            <c:strRef>
              <c:f>Sheet1!$C$1</c:f>
              <c:strCache>
                <c:ptCount val="1"/>
                <c:pt idx="0">
                  <c:v>Macro-F1</c:v>
                </c:pt>
              </c:strCache>
            </c:strRef>
          </c:tx>
          <c:spPr>
            <a:solidFill>
              <a:srgbClr val="C9A24B"/>
            </a:solidFill>
            <a:effectLst/>
          </c:spPr>
          <c:invertIfNegative val="0"/>
          <c:dLbls>
            <c:numFmt formatCode="0.00" sourceLinked="0"/>
            <c:txPr>
              <a:bodyPr/>
              <a:lstStyle/>
              <a:p>
                <a:pPr>
                  <a:defRPr b="0" i="0" strike="noStrike" sz="1100" u="none">
                    <a:solidFill>
                      <a:srgbClr val="10261F"/>
                    </a:solidFill>
                    <a:latin typeface="+mn-lt"/>
                  </a:defRPr>
                </a:pPr>
              </a:p>
            </c:txPr>
            <c:showLegendKey val="0"/>
            <c:showVal val="1"/>
            <c:showCatName val="0"/>
            <c:showSerName val="0"/>
            <c:showPercent val="0"/>
            <c:showBubbleSize val="0"/>
            <c:showLeaderLines val="0"/>
          </c:dLbls>
          <c:cat>
            <c:multiLvlStrRef>
              <c:f>Sheet1!$A$2:$A$5</c:f>
              <c:multiLvlStrCache>
                <c:ptCount val="4"/>
                <c:lvl>
                  <c:pt idx="0">
                    <c:v>Majority</c:v>
                  </c:pt>
                  <c:pt idx="1">
                    <c:v>LDA + LogReg</c:v>
                  </c:pt>
                  <c:pt idx="2">
                    <c:v>Doc2Vec + LogReg</c:v>
                  </c:pt>
                  <c:pt idx="3">
                    <c:v>TF-IDF + Linear SVM</c:v>
                  </c:pt>
                </c:lvl>
              </c:multiLvlStrCache>
            </c:multiLvlStrRef>
          </c:cat>
          <c:val>
            <c:numRef>
              <c:f>Sheet1!$C$2:$C$5</c:f>
              <c:numCache>
                <c:formatCode>General</c:formatCode>
                <c:ptCount val="4"/>
                <c:pt idx="0">
                  <c:v>0.0288</c:v>
                </c:pt>
                <c:pt idx="1">
                  <c:v>0.4472</c:v>
                </c:pt>
                <c:pt idx="2">
                  <c:v>0.5843</c:v>
                </c:pt>
                <c:pt idx="3">
                  <c:v>0.7672</c:v>
                </c:pt>
              </c:numCache>
            </c:numRef>
          </c:val>
        </c:ser>
        <c:dLbls>
          <c:numFmt formatCode="0.00" sourceLinked="0"/>
          <c:txPr>
            <a:bodyPr/>
            <a:lstStyle/>
            <a:p>
              <a:pPr>
                <a:defRPr b="0" i="0" strike="noStrike" sz="1100" u="none">
                  <a:solidFill>
                    <a:srgbClr val="1026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64"/>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A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6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C6B6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Introduce the team and the one-line problem: automatically labeling the legal topic of Supreme Court opinions. Likely questions: Why this task? Because hand cataloguing is slow and a reliable classifier helps legal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We predict the legal topic of a Supreme Court opinion from its text. Two things make it hard: opinions are very long and the classes are very uneven (1,924 Criminal Procedure vs 19 Miscellaneous). Cleaning removed 91 rows (short, unlabeled, duplicate, and the one-document class Private Action). | : the documents are long, and the classes are imbalanced, so we select models on macro-F1 and use balanced class weights. Private Action had one document and was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reference is Iyer, CS229 2020. We re-ran its two models and added a stronger baseline, validation-based selection, cross-validation, error analysis and a demo. | : the paper uses 15 classes and a different split, so we compare trends, not exact numbers. The paper Table 1 column headings are swapped, so we read the figures from its text: about 0.47 for LDA+LR and 0.63 for Doc2Vec+LR on 15 issue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Split first, then fit. Three checks: no identical text in two splits, a shuffled-label test scores 0.167 (below the 0.231 majority rate), and the test set is used once. | : the vectorizer, LDA and Doc2Vec are all fitted on the training split only. The shuffled-label test scored below the majority-class rate, so the features alone do not reveal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Read the chart left to right: majority baseline, then the paper models, then ours. Macro-F1 averages the score over all 13 classes so small classes matter as much as big ones. |  macro-F1 (Linear SVM C=0.5: validation accuracy 0.7958, macro-F1 0.7322). Other validation results: Logistic Regression C=10 0.7846 / 0.7107, best Complement NB 0.7222 / 0.5725. LDA and Doc2Vec lose label-specific information that supervised word weights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Cross-validation 0.808 ± 0.020 brackets our single test score of 0.818. The fine-grained task has 141 issue codes, so 0.707 is strong, and top-5 accuracy is 0.931. | : only issue codes with at least 15 opinions are kept (141 codes, 7,434 opinions, 80/20 split), so it is not the same as the paper's 279-code experiment. Cross-validation uses train + validation only; the test set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Point at the diagonal of the matrix: bright cells are correct. Off-diagonal errors sit between neighbours such as Judicial Power and Civil Rights. Small classes make per-class scores noisy. |  areas that legally overlap. Small classes (3 to 16 test documents) make per-class scores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Hit first (labor clause, Unions), then the miss (sample 2, true label Civil Rights, predicted Criminal Procedure because of words like trial, jury, counsel). Scores rank classes; they are not probabilities. |  from the laptop: python -m streamlit run app.py. Show a held-out sample that is correct and then sample 2, which is a known error, and explain it as an adjacent-area confusion (see the error-analysis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Roe v. Wade is labeled Privacy, and most neighbours are Privacy cases. Doe v. Bolton and Planned Parenthood v. Danforth appear in both lists. Doc2Vec shows no-label similarity, TF-IDF shows shared wording. |  on training data only and are used here just to transform the opinions. This reproduces the paper's Roe v. Wade search idea with our own pipeline. Case names are shortened from the dataset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Finding: a simple supervised model wins at 0.82 accuracy and 0.77 macro-F1, trains in about 3 seconds on CPU and is explainable. Unsupervised features lose label information. Be honest about limits: single test split, tiny classes, single words only, case names. Next: word pairs, time-based split, Longformer or Legal-BERT.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for the main talk. Possible questions. Why macro-F1? Classes are imbalanced. Why not BERT? The paper's BERT ran out of memory and we trained on CPU only; Longformer or Legal-BERT on a GPU is a next step. Is 0.82 reliable? Cross-validation gives 0.808 ± 0.020. Why do case names appear as top words? Some names repeat within a topic, so the model partly leans on case-specific vocabulary, listed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0261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355080"/>
            <a:ext cx="7315200" cy="274320"/>
          </a:xfrm>
          <a:prstGeom prst="rect">
            <a:avLst/>
          </a:prstGeom>
          <a:noFill/>
          <a:ln/>
        </p:spPr>
        <p:txBody>
          <a:bodyPr wrap="square" lIns="0" tIns="0" rIns="0" bIns="0" rtlCol="0" anchor="ctr"/>
          <a:lstStyle/>
          <a:p>
            <a:pPr indent="0" marL="0">
              <a:buNone/>
            </a:pPr>
            <a:r>
              <a:rPr lang="en-US" sz="1000" spc="200" kern="0" dirty="0">
                <a:solidFill>
                  <a:srgbClr val="8A9A92"/>
                </a:solidFill>
              </a:rPr>
              <a:t>TEAM C-26  ·  UE24CS352A MACHINE LEARNING</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498080" y="-822960"/>
            <a:ext cx="5486400" cy="7315200"/>
          </a:xfrm>
          <a:prstGeom prst="rect">
            <a:avLst/>
          </a:prstGeom>
          <a:noFill/>
          <a:ln/>
        </p:spPr>
        <p:txBody>
          <a:bodyPr wrap="square" lIns="0" tIns="0" rIns="0" bIns="0" rtlCol="0" anchor="ctr"/>
          <a:lstStyle/>
          <a:p>
            <a:pPr algn="ctr" indent="0" marL="0">
              <a:buNone/>
            </a:pPr>
            <a:r>
              <a:rPr lang="en-US" sz="42000" dirty="0">
                <a:solidFill>
                  <a:srgbClr val="1D4034"/>
                </a:solidFill>
                <a:latin typeface="Cambria" pitchFamily="34" charset="0"/>
                <a:ea typeface="Cambria" pitchFamily="34" charset="-122"/>
                <a:cs typeface="Cambria" pitchFamily="34" charset="-120"/>
              </a:rPr>
              <a:t>§</a:t>
            </a:r>
            <a:endParaRPr lang="en-US" sz="42000" dirty="0"/>
          </a:p>
        </p:txBody>
      </p:sp>
      <p:sp>
        <p:nvSpPr>
          <p:cNvPr id="3" name="Text 1"/>
          <p:cNvSpPr txBox="1"/>
          <p:nvPr/>
        </p:nvSpPr>
        <p:spPr>
          <a:xfrm>
            <a:off x="822960" y="822960"/>
            <a:ext cx="8229600" cy="365760"/>
          </a:xfrm>
          <a:prstGeom prst="rect">
            <a:avLst/>
          </a:prstGeom>
          <a:noFill/>
          <a:ln/>
        </p:spPr>
        <p:txBody>
          <a:bodyPr wrap="square" lIns="0" tIns="0" rIns="0" bIns="0" rtlCol="0" anchor="ctr"/>
          <a:lstStyle/>
          <a:p>
            <a:pPr indent="0" marL="0">
              <a:buNone/>
            </a:pPr>
            <a:r>
              <a:rPr lang="en-US" sz="1300" spc="400" kern="0" dirty="0">
                <a:solidFill>
                  <a:srgbClr val="C9A24B"/>
                </a:solidFill>
                <a:latin typeface="Calibri" pitchFamily="34" charset="0"/>
                <a:ea typeface="Calibri" pitchFamily="34" charset="-122"/>
                <a:cs typeface="Calibri" pitchFamily="34" charset="-120"/>
              </a:rPr>
              <a:t>MACHINE LEARNING MINI-PROJECT 5  ·  UE24CS352A</a:t>
            </a:r>
            <a:endParaRPr lang="en-US" sz="1300" dirty="0"/>
          </a:p>
        </p:txBody>
      </p:sp>
      <p:sp>
        <p:nvSpPr>
          <p:cNvPr id="4" name="Text 2"/>
          <p:cNvSpPr txBox="1"/>
          <p:nvPr/>
        </p:nvSpPr>
        <p:spPr>
          <a:xfrm>
            <a:off x="822960" y="1463040"/>
            <a:ext cx="8229600" cy="2286000"/>
          </a:xfrm>
          <a:prstGeom prst="rect">
            <a:avLst/>
          </a:prstGeom>
          <a:noFill/>
          <a:ln/>
        </p:spPr>
        <p:txBody>
          <a:bodyPr wrap="square" lIns="0" tIns="0" rIns="0" bIns="0" rtlCol="0" anchor="t"/>
          <a:lstStyle/>
          <a:p>
            <a:pPr indent="0" marL="0">
              <a:buNone/>
            </a:pPr>
            <a:r>
              <a:rPr lang="en-US" sz="6600" b="1" dirty="0">
                <a:solidFill>
                  <a:srgbClr val="FFFFFF"/>
                </a:solidFill>
                <a:latin typeface="Cambria" pitchFamily="34" charset="0"/>
                <a:ea typeface="Cambria" pitchFamily="34" charset="-122"/>
                <a:cs typeface="Cambria" pitchFamily="34" charset="-120"/>
              </a:rPr>
              <a:t>Classification of</a:t>
            </a:r>
            <a:endParaRPr lang="en-US" sz="6600" dirty="0"/>
          </a:p>
          <a:p>
            <a:pPr indent="0" marL="0">
              <a:buNone/>
            </a:pPr>
            <a:r>
              <a:rPr lang="en-US" sz="6600" b="1" dirty="0">
                <a:solidFill>
                  <a:srgbClr val="FFFFFF"/>
                </a:solidFill>
                <a:latin typeface="Cambria" pitchFamily="34" charset="0"/>
                <a:ea typeface="Cambria" pitchFamily="34" charset="-122"/>
                <a:cs typeface="Cambria" pitchFamily="34" charset="-120"/>
              </a:rPr>
              <a:t>Legal Text</a:t>
            </a:r>
            <a:endParaRPr lang="en-US" sz="6600" dirty="0"/>
          </a:p>
        </p:txBody>
      </p:sp>
      <p:sp>
        <p:nvSpPr>
          <p:cNvPr id="5" name="Text 3"/>
          <p:cNvSpPr txBox="1"/>
          <p:nvPr/>
        </p:nvSpPr>
        <p:spPr>
          <a:xfrm>
            <a:off x="822960" y="3840480"/>
            <a:ext cx="7772400" cy="457200"/>
          </a:xfrm>
          <a:prstGeom prst="rect">
            <a:avLst/>
          </a:prstGeom>
          <a:noFill/>
          <a:ln/>
        </p:spPr>
        <p:txBody>
          <a:bodyPr wrap="square" lIns="0" tIns="0" rIns="0" bIns="0" rtlCol="0" anchor="ctr"/>
          <a:lstStyle/>
          <a:p>
            <a:pPr indent="0" marL="0">
              <a:buNone/>
            </a:pPr>
            <a:r>
              <a:rPr lang="en-US" sz="2200" i="1" dirty="0">
                <a:solidFill>
                  <a:srgbClr val="F0DDA8"/>
                </a:solidFill>
                <a:latin typeface="Cambria" pitchFamily="34" charset="0"/>
                <a:ea typeface="Cambria" pitchFamily="34" charset="-122"/>
                <a:cs typeface="Cambria" pitchFamily="34" charset="-120"/>
              </a:rPr>
              <a:t>Predicting the issue area of US Supreme Court opinions</a:t>
            </a:r>
            <a:endParaRPr lang="en-US" sz="2200" dirty="0"/>
          </a:p>
        </p:txBody>
      </p:sp>
      <p:sp>
        <p:nvSpPr>
          <p:cNvPr id="6" name="Team card"/>
          <p:cNvSpPr/>
          <p:nvPr/>
        </p:nvSpPr>
        <p:spPr>
          <a:xfrm>
            <a:off x="822960" y="4892040"/>
            <a:ext cx="7863840" cy="1097280"/>
          </a:xfrm>
          <a:prstGeom prst="roundRect">
            <a:avLst>
              <a:gd name="adj" fmla="val 8333"/>
            </a:avLst>
          </a:prstGeom>
          <a:solidFill>
            <a:srgbClr val="1D4034"/>
          </a:solidFill>
          <a:ln w="12700">
            <a:solidFill>
              <a:srgbClr val="1D4034"/>
            </a:solidFill>
            <a:prstDash val="solid"/>
          </a:ln>
        </p:spPr>
      </p:sp>
      <p:sp>
        <p:nvSpPr>
          <p:cNvPr id="7" name="Text 5"/>
          <p:cNvSpPr txBox="1"/>
          <p:nvPr/>
        </p:nvSpPr>
        <p:spPr>
          <a:xfrm>
            <a:off x="1097280" y="4983480"/>
            <a:ext cx="7406640" cy="914400"/>
          </a:xfrm>
          <a:prstGeom prst="rect">
            <a:avLst/>
          </a:prstGeom>
          <a:noFill/>
          <a:ln/>
        </p:spPr>
        <p:txBody>
          <a:bodyPr wrap="square" lIns="0" tIns="0" rIns="0" bIns="0" rtlCol="0" anchor="ctr"/>
          <a:lstStyle/>
          <a:p>
            <a:pPr indent="0" marL="0">
              <a:spcAft>
                <a:spcPts val="400"/>
              </a:spcAft>
              <a:buNone/>
            </a:pPr>
            <a:r>
              <a:rPr lang="en-US" sz="1500" b="1" dirty="0">
                <a:solidFill>
                  <a:srgbClr val="C9A24B"/>
                </a:solidFill>
                <a:latin typeface="Calibri" pitchFamily="34" charset="0"/>
                <a:ea typeface="Calibri" pitchFamily="34" charset="-122"/>
                <a:cs typeface="Calibri" pitchFamily="34" charset="-120"/>
              </a:rPr>
              <a:t>Team C-26  ·  Section AIML-C</a:t>
            </a:r>
            <a:endParaRPr lang="en-US" sz="15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Kshitij Satish Shetty (PES1UG24AM143)  |  Kushal G (PES1UG24AM145)</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01</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5C6B64"/>
                </a:solidFill>
                <a:latin typeface="Calibri" pitchFamily="34" charset="0"/>
                <a:ea typeface="Calibri" pitchFamily="34" charset="-122"/>
                <a:cs typeface="Calibri" pitchFamily="34" charset="-120"/>
              </a:rPr>
              <a:t>THE PROBLEM</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10261F"/>
                </a:solidFill>
                <a:latin typeface="Cambria" pitchFamily="34" charset="0"/>
                <a:ea typeface="Cambria" pitchFamily="34" charset="-122"/>
                <a:cs typeface="Cambria" pitchFamily="34" charset="-120"/>
              </a:rPr>
              <a:t>A long, imbalanced legal text problem</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2F7A5F"/>
                </a:solidFill>
                <a:latin typeface="Calibri" pitchFamily="34" charset="0"/>
                <a:ea typeface="Calibri" pitchFamily="34" charset="-122"/>
                <a:cs typeface="Calibri" pitchFamily="34" charset="-120"/>
              </a:rPr>
              <a:t>Given an opinion's text, predict its legal topic (e.g. Criminal Procedure, Civil Rights, Federal Taxation).</a:t>
            </a:r>
            <a:endParaRPr lang="en-US" sz="1600" dirty="0"/>
          </a:p>
        </p:txBody>
      </p:sp>
      <p:sp>
        <p:nvSpPr>
          <p:cNvPr id="6" name="Stat 0"/>
          <p:cNvSpPr/>
          <p:nvPr/>
        </p:nvSpPr>
        <p:spPr>
          <a:xfrm>
            <a:off x="640080" y="1783080"/>
            <a:ext cx="4846320" cy="1188720"/>
          </a:xfrm>
          <a:prstGeom prst="roundRect">
            <a:avLst>
              <a:gd name="adj" fmla="val 7692"/>
            </a:avLst>
          </a:prstGeom>
          <a:solidFill>
            <a:srgbClr val="EEF3EF"/>
          </a:solidFill>
          <a:ln w="12700">
            <a:solidFill>
              <a:srgbClr val="EEF3EF"/>
            </a:solidFill>
            <a:prstDash val="solid"/>
          </a:ln>
        </p:spPr>
      </p:sp>
      <p:sp>
        <p:nvSpPr>
          <p:cNvPr id="7" name="Text 5"/>
          <p:cNvSpPr txBox="1"/>
          <p:nvPr/>
        </p:nvSpPr>
        <p:spPr>
          <a:xfrm>
            <a:off x="868680" y="1892808"/>
            <a:ext cx="4389120" cy="548640"/>
          </a:xfrm>
          <a:prstGeom prst="rect">
            <a:avLst/>
          </a:prstGeom>
          <a:noFill/>
          <a:ln/>
        </p:spPr>
        <p:txBody>
          <a:bodyPr wrap="square" lIns="0" tIns="0" rIns="0" bIns="0" rtlCol="0" anchor="ctr"/>
          <a:lstStyle/>
          <a:p>
            <a:pPr indent="0" marL="0">
              <a:buNone/>
            </a:pPr>
            <a:r>
              <a:rPr lang="en-US" sz="3200" b="1" dirty="0">
                <a:solidFill>
                  <a:srgbClr val="1D4034"/>
                </a:solidFill>
                <a:latin typeface="Cambria" pitchFamily="34" charset="0"/>
                <a:ea typeface="Cambria" pitchFamily="34" charset="-122"/>
                <a:cs typeface="Cambria" pitchFamily="34" charset="-120"/>
              </a:rPr>
              <a:t>8,328</a:t>
            </a:r>
            <a:endParaRPr lang="en-US" sz="3200" dirty="0"/>
          </a:p>
        </p:txBody>
      </p:sp>
      <p:sp>
        <p:nvSpPr>
          <p:cNvPr id="8" name="Text 6"/>
          <p:cNvSpPr txBox="1"/>
          <p:nvPr/>
        </p:nvSpPr>
        <p:spPr>
          <a:xfrm>
            <a:off x="868680" y="2468880"/>
            <a:ext cx="4389120" cy="365760"/>
          </a:xfrm>
          <a:prstGeom prst="rect">
            <a:avLst/>
          </a:prstGeom>
          <a:noFill/>
          <a:ln/>
        </p:spPr>
        <p:txBody>
          <a:bodyPr wrap="square" lIns="0" tIns="0" rIns="0" bIns="0" rtlCol="0" anchor="ctr"/>
          <a:lstStyle/>
          <a:p>
            <a:pPr indent="0" marL="0">
              <a:buNone/>
            </a:pPr>
            <a:r>
              <a:rPr lang="en-US" sz="1400" dirty="0">
                <a:solidFill>
                  <a:srgbClr val="5C6B64"/>
                </a:solidFill>
                <a:latin typeface="Calibri" pitchFamily="34" charset="0"/>
                <a:ea typeface="Calibri" pitchFamily="34" charset="-122"/>
                <a:cs typeface="Calibri" pitchFamily="34" charset="-120"/>
              </a:rPr>
              <a:t>documents, 13 classes  ·  after cleaning 8,419 opinions (1946–2016)</a:t>
            </a:r>
            <a:endParaRPr lang="en-US" sz="1400" dirty="0"/>
          </a:p>
        </p:txBody>
      </p:sp>
      <p:sp>
        <p:nvSpPr>
          <p:cNvPr id="9" name="Stat 1"/>
          <p:cNvSpPr/>
          <p:nvPr/>
        </p:nvSpPr>
        <p:spPr>
          <a:xfrm>
            <a:off x="640080" y="3154680"/>
            <a:ext cx="4846320" cy="1188720"/>
          </a:xfrm>
          <a:prstGeom prst="roundRect">
            <a:avLst>
              <a:gd name="adj" fmla="val 7692"/>
            </a:avLst>
          </a:prstGeom>
          <a:solidFill>
            <a:srgbClr val="EEF3EF"/>
          </a:solidFill>
          <a:ln w="12700">
            <a:solidFill>
              <a:srgbClr val="EEF3EF"/>
            </a:solidFill>
            <a:prstDash val="solid"/>
          </a:ln>
        </p:spPr>
      </p:sp>
      <p:sp>
        <p:nvSpPr>
          <p:cNvPr id="10" name="Text 8"/>
          <p:cNvSpPr txBox="1"/>
          <p:nvPr/>
        </p:nvSpPr>
        <p:spPr>
          <a:xfrm>
            <a:off x="868680" y="3264408"/>
            <a:ext cx="4389120" cy="548640"/>
          </a:xfrm>
          <a:prstGeom prst="rect">
            <a:avLst/>
          </a:prstGeom>
          <a:noFill/>
          <a:ln/>
        </p:spPr>
        <p:txBody>
          <a:bodyPr wrap="square" lIns="0" tIns="0" rIns="0" bIns="0" rtlCol="0" anchor="ctr"/>
          <a:lstStyle/>
          <a:p>
            <a:pPr indent="0" marL="0">
              <a:buNone/>
            </a:pPr>
            <a:r>
              <a:rPr lang="en-US" sz="3200" b="1" dirty="0">
                <a:solidFill>
                  <a:srgbClr val="1D4034"/>
                </a:solidFill>
                <a:latin typeface="Cambria" pitchFamily="34" charset="0"/>
                <a:ea typeface="Cambria" pitchFamily="34" charset="-122"/>
                <a:cs typeface="Cambria" pitchFamily="34" charset="-120"/>
              </a:rPr>
              <a:t>~5,550</a:t>
            </a:r>
            <a:endParaRPr lang="en-US" sz="3200" dirty="0"/>
          </a:p>
        </p:txBody>
      </p:sp>
      <p:sp>
        <p:nvSpPr>
          <p:cNvPr id="11" name="Text 9"/>
          <p:cNvSpPr txBox="1"/>
          <p:nvPr/>
        </p:nvSpPr>
        <p:spPr>
          <a:xfrm>
            <a:off x="868680" y="3840480"/>
            <a:ext cx="4389120" cy="365760"/>
          </a:xfrm>
          <a:prstGeom prst="rect">
            <a:avLst/>
          </a:prstGeom>
          <a:noFill/>
          <a:ln/>
        </p:spPr>
        <p:txBody>
          <a:bodyPr wrap="square" lIns="0" tIns="0" rIns="0" bIns="0" rtlCol="0" anchor="ctr"/>
          <a:lstStyle/>
          <a:p>
            <a:pPr indent="0" marL="0">
              <a:buNone/>
            </a:pPr>
            <a:r>
              <a:rPr lang="en-US" sz="1400" dirty="0">
                <a:solidFill>
                  <a:srgbClr val="5C6B64"/>
                </a:solidFill>
                <a:latin typeface="Calibri" pitchFamily="34" charset="0"/>
                <a:ea typeface="Calibri" pitchFamily="34" charset="-122"/>
                <a:cs typeface="Calibri" pitchFamily="34" charset="-120"/>
              </a:rPr>
              <a:t>words, median length  ·  first 30,000 characters used</a:t>
            </a:r>
            <a:endParaRPr lang="en-US" sz="1400" dirty="0"/>
          </a:p>
        </p:txBody>
      </p:sp>
      <p:sp>
        <p:nvSpPr>
          <p:cNvPr id="12" name="Stat 2"/>
          <p:cNvSpPr/>
          <p:nvPr/>
        </p:nvSpPr>
        <p:spPr>
          <a:xfrm>
            <a:off x="640080" y="4526280"/>
            <a:ext cx="4846320" cy="1188720"/>
          </a:xfrm>
          <a:prstGeom prst="roundRect">
            <a:avLst>
              <a:gd name="adj" fmla="val 7692"/>
            </a:avLst>
          </a:prstGeom>
          <a:solidFill>
            <a:srgbClr val="EEF3EF"/>
          </a:solidFill>
          <a:ln w="12700">
            <a:solidFill>
              <a:srgbClr val="EEF3EF"/>
            </a:solidFill>
            <a:prstDash val="solid"/>
          </a:ln>
        </p:spPr>
      </p:sp>
      <p:sp>
        <p:nvSpPr>
          <p:cNvPr id="13" name="Text 11"/>
          <p:cNvSpPr txBox="1"/>
          <p:nvPr/>
        </p:nvSpPr>
        <p:spPr>
          <a:xfrm>
            <a:off x="868680" y="4636008"/>
            <a:ext cx="4389120" cy="548640"/>
          </a:xfrm>
          <a:prstGeom prst="rect">
            <a:avLst/>
          </a:prstGeom>
          <a:noFill/>
          <a:ln/>
        </p:spPr>
        <p:txBody>
          <a:bodyPr wrap="square" lIns="0" tIns="0" rIns="0" bIns="0" rtlCol="0" anchor="ctr"/>
          <a:lstStyle/>
          <a:p>
            <a:pPr indent="0" marL="0">
              <a:buNone/>
            </a:pPr>
            <a:r>
              <a:rPr lang="en-US" sz="2400" b="1" dirty="0">
                <a:solidFill>
                  <a:srgbClr val="1D4034"/>
                </a:solidFill>
                <a:latin typeface="Cambria" pitchFamily="34" charset="0"/>
                <a:ea typeface="Cambria" pitchFamily="34" charset="-122"/>
                <a:cs typeface="Cambria" pitchFamily="34" charset="-120"/>
              </a:rPr>
              <a:t>5,829 / 1,249 / 1,250</a:t>
            </a:r>
            <a:endParaRPr lang="en-US" sz="2400" dirty="0"/>
          </a:p>
        </p:txBody>
      </p:sp>
      <p:sp>
        <p:nvSpPr>
          <p:cNvPr id="14" name="Text 12"/>
          <p:cNvSpPr txBox="1"/>
          <p:nvPr/>
        </p:nvSpPr>
        <p:spPr>
          <a:xfrm>
            <a:off x="868680" y="5212080"/>
            <a:ext cx="4389120" cy="365760"/>
          </a:xfrm>
          <a:prstGeom prst="rect">
            <a:avLst/>
          </a:prstGeom>
          <a:noFill/>
          <a:ln/>
        </p:spPr>
        <p:txBody>
          <a:bodyPr wrap="square" lIns="0" tIns="0" rIns="0" bIns="0" rtlCol="0" anchor="ctr"/>
          <a:lstStyle/>
          <a:p>
            <a:pPr indent="0" marL="0">
              <a:buNone/>
            </a:pPr>
            <a:r>
              <a:rPr lang="en-US" sz="1400" dirty="0">
                <a:solidFill>
                  <a:srgbClr val="5C6B64"/>
                </a:solidFill>
                <a:latin typeface="Calibri" pitchFamily="34" charset="0"/>
                <a:ea typeface="Calibri" pitchFamily="34" charset="-122"/>
                <a:cs typeface="Calibri" pitchFamily="34" charset="-120"/>
              </a:rPr>
              <a:t>train / val / test  ·  stratified split</a:t>
            </a:r>
            <a:endParaRPr lang="en-US" sz="1400" dirty="0"/>
          </a:p>
        </p:txBody>
      </p:sp>
      <p:sp>
        <p:nvSpPr>
          <p:cNvPr id="15" name="Text 13"/>
          <p:cNvSpPr txBox="1"/>
          <p:nvPr/>
        </p:nvSpPr>
        <p:spPr>
          <a:xfrm>
            <a:off x="640080" y="5852160"/>
            <a:ext cx="4846320" cy="457200"/>
          </a:xfrm>
          <a:prstGeom prst="rect">
            <a:avLst/>
          </a:prstGeom>
          <a:noFill/>
          <a:ln/>
        </p:spPr>
        <p:txBody>
          <a:bodyPr wrap="square" lIns="0" tIns="0" rIns="0" bIns="0" rtlCol="0" anchor="t"/>
          <a:lstStyle/>
          <a:p>
            <a:pPr indent="0" marL="0">
              <a:buNone/>
            </a:pPr>
            <a:r>
              <a:rPr lang="en-US" sz="1200" b="1" dirty="0">
                <a:solidFill>
                  <a:srgbClr val="1D4034"/>
                </a:solidFill>
                <a:latin typeface="Calibri" pitchFamily="34" charset="0"/>
                <a:ea typeface="Calibri" pitchFamily="34" charset="-122"/>
                <a:cs typeface="Calibri" pitchFamily="34" charset="-120"/>
              </a:rPr>
              <a:t>Task: </a:t>
            </a:r>
            <a:pPr indent="0" marL="0">
              <a:buNone/>
            </a:pPr>
            <a:r>
              <a:rPr lang="en-US" sz="1200" dirty="0">
                <a:solidFill>
                  <a:srgbClr val="10261F"/>
                </a:solidFill>
                <a:latin typeface="Calibri" pitchFamily="34" charset="0"/>
                <a:ea typeface="Calibri" pitchFamily="34" charset="-122"/>
                <a:cs typeface="Calibri" pitchFamily="34" charset="-120"/>
              </a:rPr>
              <a:t>predict the issue area (legal topic) of an opinion from its text. </a:t>
            </a:r>
            <a:pPr indent="0" marL="0">
              <a:buNone/>
            </a:pPr>
            <a:r>
              <a:rPr lang="en-US" sz="1200" b="1" dirty="0">
                <a:solidFill>
                  <a:srgbClr val="1D4034"/>
                </a:solidFill>
                <a:latin typeface="Calibri" pitchFamily="34" charset="0"/>
                <a:ea typeface="Calibri" pitchFamily="34" charset="-122"/>
                <a:cs typeface="Calibri" pitchFamily="34" charset="-120"/>
              </a:rPr>
              <a:t>Data: </a:t>
            </a:r>
            <a:pPr indent="0" marL="0">
              <a:buNone/>
            </a:pPr>
            <a:r>
              <a:rPr lang="en-US" sz="1200" dirty="0">
                <a:solidFill>
                  <a:srgbClr val="10261F"/>
                </a:solidFill>
                <a:latin typeface="Calibri" pitchFamily="34" charset="0"/>
                <a:ea typeface="Calibri" pitchFamily="34" charset="-122"/>
                <a:cs typeface="Calibri" pitchFamily="34" charset="-120"/>
              </a:rPr>
              <a:t>Supreme Court Database via textacy, expert labels.</a:t>
            </a:r>
            <a:endParaRPr lang="en-US" sz="1200" dirty="0"/>
          </a:p>
        </p:txBody>
      </p:sp>
      <p:sp>
        <p:nvSpPr>
          <p:cNvPr id="16" name="Chart card"/>
          <p:cNvSpPr/>
          <p:nvPr/>
        </p:nvSpPr>
        <p:spPr>
          <a:xfrm>
            <a:off x="5852160" y="1783080"/>
            <a:ext cx="5715000" cy="3931920"/>
          </a:xfrm>
          <a:prstGeom prst="roundRect">
            <a:avLst>
              <a:gd name="adj" fmla="val 2326"/>
            </a:avLst>
          </a:prstGeom>
          <a:solidFill>
            <a:srgbClr val="FFFFFF"/>
          </a:solidFill>
          <a:ln w="12700">
            <a:solidFill>
              <a:srgbClr val="D5DED8"/>
            </a:solidFill>
            <a:prstDash val="solid"/>
          </a:ln>
          <a:effectLst>
            <a:outerShdw sx="100000" sy="100000" kx="0" ky="0" algn="bl" rotWithShape="0" blurRad="127000" dist="25400" dir="5400000">
              <a:srgbClr val="10261F">
                <a:alpha val="12000"/>
              </a:srgbClr>
            </a:outerShdw>
          </a:effectLst>
        </p:spPr>
      </p:sp>
      <p:pic>
        <p:nvPicPr>
          <p:cNvPr id="17" name="Image 0" descr="Bar chart of documents per issue area">    </p:cNvPr>
          <p:cNvPicPr>
            <a:picLocks noChangeAspect="1"/>
          </p:cNvPicPr>
          <p:nvPr/>
        </p:nvPicPr>
        <p:blipFill>
          <a:blip r:embed="rId1"/>
          <a:stretch>
            <a:fillRect/>
          </a:stretch>
        </p:blipFill>
        <p:spPr>
          <a:xfrm>
            <a:off x="5989320" y="1874520"/>
            <a:ext cx="5440680" cy="3401568"/>
          </a:xfrm>
          <a:prstGeom prst="rect">
            <a:avLst/>
          </a:prstGeom>
        </p:spPr>
      </p:pic>
      <p:sp>
        <p:nvSpPr>
          <p:cNvPr id="18" name="Text 15"/>
          <p:cNvSpPr txBox="1"/>
          <p:nvPr/>
        </p:nvSpPr>
        <p:spPr>
          <a:xfrm>
            <a:off x="5989320" y="5303520"/>
            <a:ext cx="5440680" cy="365760"/>
          </a:xfrm>
          <a:prstGeom prst="rect">
            <a:avLst/>
          </a:prstGeom>
          <a:noFill/>
          <a:ln/>
        </p:spPr>
        <p:txBody>
          <a:bodyPr wrap="square" lIns="0" tIns="0" rIns="0" bIns="0" rtlCol="0" anchor="ctr"/>
          <a:lstStyle/>
          <a:p>
            <a:pPr indent="0" marL="0">
              <a:buNone/>
            </a:pPr>
            <a:r>
              <a:rPr lang="en-US" sz="1100" i="1" dirty="0">
                <a:solidFill>
                  <a:srgbClr val="5C6B64"/>
                </a:solidFill>
                <a:latin typeface="Calibri" pitchFamily="34" charset="0"/>
                <a:ea typeface="Calibri" pitchFamily="34" charset="-122"/>
                <a:cs typeface="Calibri" pitchFamily="34" charset="-120"/>
              </a:rPr>
              <a:t>Documents per issue area, before cleaning. Criminal Procedure 1,924; Miscellaneous 19.</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02</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5C6B64"/>
                </a:solidFill>
                <a:latin typeface="Calibri" pitchFamily="34" charset="0"/>
                <a:ea typeface="Calibri" pitchFamily="34" charset="-122"/>
                <a:cs typeface="Calibri" pitchFamily="34" charset="-120"/>
              </a:rPr>
              <a:t>CONTEXT</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10261F"/>
                </a:solidFill>
                <a:latin typeface="Cambria" pitchFamily="34" charset="0"/>
                <a:ea typeface="Cambria" pitchFamily="34" charset="-122"/>
                <a:cs typeface="Cambria" pitchFamily="34" charset="-120"/>
              </a:rPr>
              <a:t>What the paper did, and what we added</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2F7A5F"/>
                </a:solidFill>
                <a:latin typeface="Calibri" pitchFamily="34" charset="0"/>
                <a:ea typeface="Calibri" pitchFamily="34" charset="-122"/>
                <a:cs typeface="Calibri" pitchFamily="34" charset="-120"/>
              </a:rPr>
              <a:t>We re-ran the paper's two models on a fair split, then added stronger models and extra checks.</a:t>
            </a:r>
            <a:endParaRPr lang="en-US" sz="1600" dirty="0"/>
          </a:p>
        </p:txBody>
      </p:sp>
      <p:sp>
        <p:nvSpPr>
          <p:cNvPr id="6" name="Column 0"/>
          <p:cNvSpPr/>
          <p:nvPr/>
        </p:nvSpPr>
        <p:spPr>
          <a:xfrm>
            <a:off x="640080" y="1828800"/>
            <a:ext cx="5303520" cy="3657600"/>
          </a:xfrm>
          <a:prstGeom prst="roundRect">
            <a:avLst>
              <a:gd name="adj" fmla="val 3000"/>
            </a:avLst>
          </a:prstGeom>
          <a:solidFill>
            <a:srgbClr val="EEF3EF"/>
          </a:solidFill>
          <a:ln w="12700">
            <a:solidFill>
              <a:srgbClr val="EEF3EF"/>
            </a:solidFill>
            <a:prstDash val="solid"/>
          </a:ln>
        </p:spPr>
      </p:sp>
      <p:sp>
        <p:nvSpPr>
          <p:cNvPr id="7" name="Text 5"/>
          <p:cNvSpPr txBox="1"/>
          <p:nvPr/>
        </p:nvSpPr>
        <p:spPr>
          <a:xfrm>
            <a:off x="960120" y="1965960"/>
            <a:ext cx="4663440" cy="457200"/>
          </a:xfrm>
          <a:prstGeom prst="rect">
            <a:avLst/>
          </a:prstGeom>
          <a:noFill/>
          <a:ln/>
        </p:spPr>
        <p:txBody>
          <a:bodyPr wrap="square" lIns="0" tIns="0" rIns="0" bIns="0" rtlCol="0" anchor="ctr"/>
          <a:lstStyle/>
          <a:p>
            <a:pPr indent="0" marL="0">
              <a:buNone/>
            </a:pPr>
            <a:r>
              <a:rPr lang="en-US" sz="2400" b="1" dirty="0">
                <a:solidFill>
                  <a:srgbClr val="1D4034"/>
                </a:solidFill>
                <a:latin typeface="Cambria" pitchFamily="34" charset="0"/>
                <a:ea typeface="Cambria" pitchFamily="34" charset="-122"/>
                <a:cs typeface="Cambria" pitchFamily="34" charset="-120"/>
              </a:rPr>
              <a:t>Iyer, CS229 2020</a:t>
            </a:r>
            <a:endParaRPr lang="en-US" sz="2400" dirty="0"/>
          </a:p>
        </p:txBody>
      </p:sp>
      <p:sp>
        <p:nvSpPr>
          <p:cNvPr id="8" name="Text 6"/>
          <p:cNvSpPr txBox="1"/>
          <p:nvPr/>
        </p:nvSpPr>
        <p:spPr>
          <a:xfrm>
            <a:off x="960120" y="2395728"/>
            <a:ext cx="4663440" cy="274320"/>
          </a:xfrm>
          <a:prstGeom prst="rect">
            <a:avLst/>
          </a:prstGeom>
          <a:noFill/>
          <a:ln/>
        </p:spPr>
        <p:txBody>
          <a:bodyPr wrap="square" lIns="0" tIns="0" rIns="0" bIns="0" rtlCol="0" anchor="ctr"/>
          <a:lstStyle/>
          <a:p>
            <a:pPr indent="0" marL="0">
              <a:buNone/>
            </a:pPr>
            <a:r>
              <a:rPr lang="en-US" sz="1100" spc="300" kern="0" dirty="0">
                <a:solidFill>
                  <a:srgbClr val="5C6B64"/>
                </a:solidFill>
                <a:latin typeface="Calibri" pitchFamily="34" charset="0"/>
                <a:ea typeface="Calibri" pitchFamily="34" charset="-122"/>
                <a:cs typeface="Calibri" pitchFamily="34" charset="-120"/>
              </a:rPr>
              <a:t>THE REFERENCE PAPER</a:t>
            </a:r>
            <a:endParaRPr lang="en-US" sz="1100" dirty="0"/>
          </a:p>
        </p:txBody>
      </p:sp>
      <p:sp>
        <p:nvSpPr>
          <p:cNvPr id="9" name="Dot"/>
          <p:cNvSpPr/>
          <p:nvPr/>
        </p:nvSpPr>
        <p:spPr>
          <a:xfrm>
            <a:off x="960120" y="2916936"/>
            <a:ext cx="365760" cy="365760"/>
          </a:xfrm>
          <a:prstGeom prst="ellipse">
            <a:avLst/>
          </a:prstGeom>
          <a:solidFill>
            <a:srgbClr val="2F7A5F"/>
          </a:solidFill>
          <a:ln w="12700">
            <a:solidFill>
              <a:srgbClr val="2F7A5F"/>
            </a:solidFill>
            <a:prstDash val="solid"/>
          </a:ln>
        </p:spPr>
      </p:sp>
      <p:sp>
        <p:nvSpPr>
          <p:cNvPr id="10" name="Text 8"/>
          <p:cNvSpPr txBox="1"/>
          <p:nvPr/>
        </p:nvSpPr>
        <p:spPr>
          <a:xfrm>
            <a:off x="960120" y="29169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508760" y="2880360"/>
            <a:ext cx="4206240" cy="457200"/>
          </a:xfrm>
          <a:prstGeom prst="rect">
            <a:avLst/>
          </a:prstGeom>
          <a:noFill/>
          <a:ln/>
        </p:spPr>
        <p:txBody>
          <a:bodyPr wrap="square" lIns="0" tIns="0" rIns="0" bIns="0" rtlCol="0" anchor="ctr"/>
          <a:lstStyle/>
          <a:p>
            <a:pPr indent="0" marL="0">
              <a:buNone/>
            </a:pPr>
            <a:r>
              <a:rPr lang="en-US" sz="1600" dirty="0">
                <a:solidFill>
                  <a:srgbClr val="10261F"/>
                </a:solidFill>
                <a:latin typeface="Calibri" pitchFamily="34" charset="0"/>
                <a:ea typeface="Calibri" pitchFamily="34" charset="-122"/>
                <a:cs typeface="Calibri" pitchFamily="34" charset="-120"/>
              </a:rPr>
              <a:t>LDA topics + Logistic Regression (baseline)</a:t>
            </a:r>
            <a:endParaRPr lang="en-US" sz="1600" dirty="0"/>
          </a:p>
        </p:txBody>
      </p:sp>
      <p:sp>
        <p:nvSpPr>
          <p:cNvPr id="12" name="Dot"/>
          <p:cNvSpPr/>
          <p:nvPr/>
        </p:nvSpPr>
        <p:spPr>
          <a:xfrm>
            <a:off x="960120" y="3538728"/>
            <a:ext cx="365760" cy="365760"/>
          </a:xfrm>
          <a:prstGeom prst="ellipse">
            <a:avLst/>
          </a:prstGeom>
          <a:solidFill>
            <a:srgbClr val="2F7A5F"/>
          </a:solidFill>
          <a:ln w="12700">
            <a:solidFill>
              <a:srgbClr val="2F7A5F"/>
            </a:solidFill>
            <a:prstDash val="solid"/>
          </a:ln>
        </p:spPr>
      </p:sp>
      <p:sp>
        <p:nvSpPr>
          <p:cNvPr id="13" name="Text 11"/>
          <p:cNvSpPr txBox="1"/>
          <p:nvPr/>
        </p:nvSpPr>
        <p:spPr>
          <a:xfrm>
            <a:off x="960120"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508760" y="3502152"/>
            <a:ext cx="4206240" cy="457200"/>
          </a:xfrm>
          <a:prstGeom prst="rect">
            <a:avLst/>
          </a:prstGeom>
          <a:noFill/>
          <a:ln/>
        </p:spPr>
        <p:txBody>
          <a:bodyPr wrap="square" lIns="0" tIns="0" rIns="0" bIns="0" rtlCol="0" anchor="ctr"/>
          <a:lstStyle/>
          <a:p>
            <a:pPr indent="0" marL="0">
              <a:buNone/>
            </a:pPr>
            <a:r>
              <a:rPr lang="en-US" sz="1600" dirty="0">
                <a:solidFill>
                  <a:srgbClr val="10261F"/>
                </a:solidFill>
                <a:latin typeface="Calibri" pitchFamily="34" charset="0"/>
                <a:ea typeface="Calibri" pitchFamily="34" charset="-122"/>
                <a:cs typeface="Calibri" pitchFamily="34" charset="-120"/>
              </a:rPr>
              <a:t>Doc2Vec + Logistic Regression (best)</a:t>
            </a:r>
            <a:endParaRPr lang="en-US" sz="1600" dirty="0"/>
          </a:p>
        </p:txBody>
      </p:sp>
      <p:sp>
        <p:nvSpPr>
          <p:cNvPr id="15" name="Dot"/>
          <p:cNvSpPr/>
          <p:nvPr/>
        </p:nvSpPr>
        <p:spPr>
          <a:xfrm>
            <a:off x="960120" y="4160520"/>
            <a:ext cx="365760" cy="365760"/>
          </a:xfrm>
          <a:prstGeom prst="ellipse">
            <a:avLst/>
          </a:prstGeom>
          <a:solidFill>
            <a:srgbClr val="2F7A5F"/>
          </a:solidFill>
          <a:ln w="12700">
            <a:solidFill>
              <a:srgbClr val="2F7A5F"/>
            </a:solidFill>
            <a:prstDash val="solid"/>
          </a:ln>
        </p:spPr>
      </p:sp>
      <p:sp>
        <p:nvSpPr>
          <p:cNvPr id="16" name="Text 14"/>
          <p:cNvSpPr txBox="1"/>
          <p:nvPr/>
        </p:nvSpPr>
        <p:spPr>
          <a:xfrm>
            <a:off x="960120" y="4160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508760" y="4123944"/>
            <a:ext cx="4206240" cy="457200"/>
          </a:xfrm>
          <a:prstGeom prst="rect">
            <a:avLst/>
          </a:prstGeom>
          <a:noFill/>
          <a:ln/>
        </p:spPr>
        <p:txBody>
          <a:bodyPr wrap="square" lIns="0" tIns="0" rIns="0" bIns="0" rtlCol="0" anchor="ctr"/>
          <a:lstStyle/>
          <a:p>
            <a:pPr indent="0" marL="0">
              <a:buNone/>
            </a:pPr>
            <a:r>
              <a:rPr lang="en-US" sz="1600" dirty="0">
                <a:solidFill>
                  <a:srgbClr val="10261F"/>
                </a:solidFill>
                <a:latin typeface="Calibri" pitchFamily="34" charset="0"/>
                <a:ea typeface="Calibri" pitchFamily="34" charset="-122"/>
                <a:cs typeface="Calibri" pitchFamily="34" charset="-120"/>
              </a:rPr>
              <a:t>BERT: ran out of memory</a:t>
            </a:r>
            <a:endParaRPr lang="en-US" sz="1600" dirty="0"/>
          </a:p>
        </p:txBody>
      </p:sp>
      <p:sp>
        <p:nvSpPr>
          <p:cNvPr id="18" name="Dot"/>
          <p:cNvSpPr/>
          <p:nvPr/>
        </p:nvSpPr>
        <p:spPr>
          <a:xfrm>
            <a:off x="960120" y="4782312"/>
            <a:ext cx="365760" cy="365760"/>
          </a:xfrm>
          <a:prstGeom prst="ellipse">
            <a:avLst/>
          </a:prstGeom>
          <a:solidFill>
            <a:srgbClr val="2F7A5F"/>
          </a:solidFill>
          <a:ln w="12700">
            <a:solidFill>
              <a:srgbClr val="2F7A5F"/>
            </a:solidFill>
            <a:prstDash val="solid"/>
          </a:ln>
        </p:spPr>
      </p:sp>
      <p:sp>
        <p:nvSpPr>
          <p:cNvPr id="19" name="Text 17"/>
          <p:cNvSpPr txBox="1"/>
          <p:nvPr/>
        </p:nvSpPr>
        <p:spPr>
          <a:xfrm>
            <a:off x="960120" y="4782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508760" y="4745736"/>
            <a:ext cx="4206240" cy="457200"/>
          </a:xfrm>
          <a:prstGeom prst="rect">
            <a:avLst/>
          </a:prstGeom>
          <a:noFill/>
          <a:ln/>
        </p:spPr>
        <p:txBody>
          <a:bodyPr wrap="square" lIns="0" tIns="0" rIns="0" bIns="0" rtlCol="0" anchor="ctr"/>
          <a:lstStyle/>
          <a:p>
            <a:pPr indent="0" marL="0">
              <a:buNone/>
            </a:pPr>
            <a:r>
              <a:rPr lang="en-US" sz="1600" dirty="0">
                <a:solidFill>
                  <a:srgbClr val="10261F"/>
                </a:solidFill>
                <a:latin typeface="Calibri" pitchFamily="34" charset="0"/>
                <a:ea typeface="Calibri" pitchFamily="34" charset="-122"/>
                <a:cs typeface="Calibri" pitchFamily="34" charset="-120"/>
              </a:rPr>
              <a:t>Doc2Vec similarity search (Roe v. Wade)</a:t>
            </a:r>
            <a:endParaRPr lang="en-US" sz="1600" dirty="0"/>
          </a:p>
        </p:txBody>
      </p:sp>
      <p:sp>
        <p:nvSpPr>
          <p:cNvPr id="21" name="Column 1"/>
          <p:cNvSpPr/>
          <p:nvPr/>
        </p:nvSpPr>
        <p:spPr>
          <a:xfrm>
            <a:off x="6263640" y="1828800"/>
            <a:ext cx="5303520" cy="3657600"/>
          </a:xfrm>
          <a:prstGeom prst="roundRect">
            <a:avLst>
              <a:gd name="adj" fmla="val 3000"/>
            </a:avLst>
          </a:prstGeom>
          <a:solidFill>
            <a:srgbClr val="1D4034"/>
          </a:solidFill>
          <a:ln w="12700">
            <a:solidFill>
              <a:srgbClr val="1D4034"/>
            </a:solidFill>
            <a:prstDash val="solid"/>
          </a:ln>
        </p:spPr>
      </p:sp>
      <p:sp>
        <p:nvSpPr>
          <p:cNvPr id="22" name="Text 20"/>
          <p:cNvSpPr txBox="1"/>
          <p:nvPr/>
        </p:nvSpPr>
        <p:spPr>
          <a:xfrm>
            <a:off x="6583680" y="1965960"/>
            <a:ext cx="4663440" cy="457200"/>
          </a:xfrm>
          <a:prstGeom prst="rect">
            <a:avLst/>
          </a:prstGeom>
          <a:noFill/>
          <a:ln/>
        </p:spPr>
        <p:txBody>
          <a:bodyPr wrap="square" lIns="0" tIns="0" rIns="0" bIns="0" rtlCol="0" anchor="ctr"/>
          <a:lstStyle/>
          <a:p>
            <a:pPr indent="0" marL="0">
              <a:buNone/>
            </a:pPr>
            <a:r>
              <a:rPr lang="en-US" sz="2400" b="1" dirty="0">
                <a:solidFill>
                  <a:srgbClr val="C9A24B"/>
                </a:solidFill>
                <a:latin typeface="Cambria" pitchFamily="34" charset="0"/>
                <a:ea typeface="Cambria" pitchFamily="34" charset="-122"/>
                <a:cs typeface="Cambria" pitchFamily="34" charset="-120"/>
              </a:rPr>
              <a:t>Our project</a:t>
            </a:r>
            <a:endParaRPr lang="en-US" sz="2400" dirty="0"/>
          </a:p>
        </p:txBody>
      </p:sp>
      <p:sp>
        <p:nvSpPr>
          <p:cNvPr id="23" name="Text 21"/>
          <p:cNvSpPr txBox="1"/>
          <p:nvPr/>
        </p:nvSpPr>
        <p:spPr>
          <a:xfrm>
            <a:off x="6583680" y="2395728"/>
            <a:ext cx="4663440" cy="274320"/>
          </a:xfrm>
          <a:prstGeom prst="rect">
            <a:avLst/>
          </a:prstGeom>
          <a:noFill/>
          <a:ln/>
        </p:spPr>
        <p:txBody>
          <a:bodyPr wrap="square" lIns="0" tIns="0" rIns="0" bIns="0" rtlCol="0" anchor="ctr"/>
          <a:lstStyle/>
          <a:p>
            <a:pPr indent="0" marL="0">
              <a:buNone/>
            </a:pPr>
            <a:r>
              <a:rPr lang="en-US" sz="1100" spc="300" kern="0" dirty="0">
                <a:solidFill>
                  <a:srgbClr val="A9C7B9"/>
                </a:solidFill>
                <a:latin typeface="Calibri" pitchFamily="34" charset="0"/>
                <a:ea typeface="Calibri" pitchFamily="34" charset="-122"/>
                <a:cs typeface="Calibri" pitchFamily="34" charset="-120"/>
              </a:rPr>
              <a:t>WHAT WE ADDED</a:t>
            </a:r>
            <a:endParaRPr lang="en-US" sz="1100" dirty="0"/>
          </a:p>
        </p:txBody>
      </p:sp>
      <p:sp>
        <p:nvSpPr>
          <p:cNvPr id="24" name="Dot"/>
          <p:cNvSpPr/>
          <p:nvPr/>
        </p:nvSpPr>
        <p:spPr>
          <a:xfrm>
            <a:off x="6583680" y="2916936"/>
            <a:ext cx="365760" cy="365760"/>
          </a:xfrm>
          <a:prstGeom prst="ellipse">
            <a:avLst/>
          </a:prstGeom>
          <a:solidFill>
            <a:srgbClr val="C9A24B"/>
          </a:solidFill>
          <a:ln w="12700">
            <a:solidFill>
              <a:srgbClr val="C9A24B"/>
            </a:solidFill>
            <a:prstDash val="solid"/>
          </a:ln>
        </p:spPr>
      </p:sp>
      <p:sp>
        <p:nvSpPr>
          <p:cNvPr id="25" name="Text 23"/>
          <p:cNvSpPr txBox="1"/>
          <p:nvPr/>
        </p:nvSpPr>
        <p:spPr>
          <a:xfrm>
            <a:off x="6583680" y="2916936"/>
            <a:ext cx="365760" cy="365760"/>
          </a:xfrm>
          <a:prstGeom prst="rect">
            <a:avLst/>
          </a:prstGeom>
          <a:noFill/>
          <a:ln/>
        </p:spPr>
        <p:txBody>
          <a:bodyPr wrap="square" lIns="0" tIns="0" rIns="0" bIns="0" rtlCol="0" anchor="ctr"/>
          <a:lstStyle/>
          <a:p>
            <a:pPr algn="ctr" indent="0" marL="0">
              <a:buNone/>
            </a:pPr>
            <a:r>
              <a:rPr lang="en-US" sz="1300" b="1" dirty="0">
                <a:solidFill>
                  <a:srgbClr val="10261F"/>
                </a:solidFill>
                <a:latin typeface="Calibri" pitchFamily="34" charset="0"/>
                <a:ea typeface="Calibri" pitchFamily="34" charset="-122"/>
                <a:cs typeface="Calibri" pitchFamily="34" charset="-120"/>
              </a:rPr>
              <a:t>1</a:t>
            </a:r>
            <a:endParaRPr lang="en-US" sz="1300" dirty="0"/>
          </a:p>
        </p:txBody>
      </p:sp>
      <p:sp>
        <p:nvSpPr>
          <p:cNvPr id="26" name="Text 24"/>
          <p:cNvSpPr txBox="1"/>
          <p:nvPr/>
        </p:nvSpPr>
        <p:spPr>
          <a:xfrm>
            <a:off x="7132320" y="2880360"/>
            <a:ext cx="42062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Both paper models, re-run on a leak-free split</a:t>
            </a:r>
            <a:endParaRPr lang="en-US" sz="1600" dirty="0"/>
          </a:p>
        </p:txBody>
      </p:sp>
      <p:sp>
        <p:nvSpPr>
          <p:cNvPr id="27" name="Dot"/>
          <p:cNvSpPr/>
          <p:nvPr/>
        </p:nvSpPr>
        <p:spPr>
          <a:xfrm>
            <a:off x="6583680" y="3538728"/>
            <a:ext cx="365760" cy="365760"/>
          </a:xfrm>
          <a:prstGeom prst="ellipse">
            <a:avLst/>
          </a:prstGeom>
          <a:solidFill>
            <a:srgbClr val="C9A24B"/>
          </a:solidFill>
          <a:ln w="12700">
            <a:solidFill>
              <a:srgbClr val="C9A24B"/>
            </a:solidFill>
            <a:prstDash val="solid"/>
          </a:ln>
        </p:spPr>
      </p:sp>
      <p:sp>
        <p:nvSpPr>
          <p:cNvPr id="28" name="Text 26"/>
          <p:cNvSpPr txBox="1"/>
          <p:nvPr/>
        </p:nvSpPr>
        <p:spPr>
          <a:xfrm>
            <a:off x="6583680" y="3538728"/>
            <a:ext cx="365760" cy="365760"/>
          </a:xfrm>
          <a:prstGeom prst="rect">
            <a:avLst/>
          </a:prstGeom>
          <a:noFill/>
          <a:ln/>
        </p:spPr>
        <p:txBody>
          <a:bodyPr wrap="square" lIns="0" tIns="0" rIns="0" bIns="0" rtlCol="0" anchor="ctr"/>
          <a:lstStyle/>
          <a:p>
            <a:pPr algn="ctr" indent="0" marL="0">
              <a:buNone/>
            </a:pPr>
            <a:r>
              <a:rPr lang="en-US" sz="1300" b="1" dirty="0">
                <a:solidFill>
                  <a:srgbClr val="10261F"/>
                </a:solidFill>
                <a:latin typeface="Calibri" pitchFamily="34" charset="0"/>
                <a:ea typeface="Calibri" pitchFamily="34" charset="-122"/>
                <a:cs typeface="Calibri" pitchFamily="34" charset="-120"/>
              </a:rPr>
              <a:t>2</a:t>
            </a:r>
            <a:endParaRPr lang="en-US" sz="1300" dirty="0"/>
          </a:p>
        </p:txBody>
      </p:sp>
      <p:sp>
        <p:nvSpPr>
          <p:cNvPr id="29" name="Text 27"/>
          <p:cNvSpPr txBox="1"/>
          <p:nvPr/>
        </p:nvSpPr>
        <p:spPr>
          <a:xfrm>
            <a:off x="7132320" y="3502152"/>
            <a:ext cx="42062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TF-IDF + linear models, chosen on validation</a:t>
            </a:r>
            <a:endParaRPr lang="en-US" sz="1600" dirty="0"/>
          </a:p>
        </p:txBody>
      </p:sp>
      <p:sp>
        <p:nvSpPr>
          <p:cNvPr id="30" name="Dot"/>
          <p:cNvSpPr/>
          <p:nvPr/>
        </p:nvSpPr>
        <p:spPr>
          <a:xfrm>
            <a:off x="6583680" y="4160520"/>
            <a:ext cx="365760" cy="365760"/>
          </a:xfrm>
          <a:prstGeom prst="ellipse">
            <a:avLst/>
          </a:prstGeom>
          <a:solidFill>
            <a:srgbClr val="C9A24B"/>
          </a:solidFill>
          <a:ln w="12700">
            <a:solidFill>
              <a:srgbClr val="C9A24B"/>
            </a:solidFill>
            <a:prstDash val="solid"/>
          </a:ln>
        </p:spPr>
      </p:sp>
      <p:sp>
        <p:nvSpPr>
          <p:cNvPr id="31" name="Text 29"/>
          <p:cNvSpPr txBox="1"/>
          <p:nvPr/>
        </p:nvSpPr>
        <p:spPr>
          <a:xfrm>
            <a:off x="6583680" y="4160520"/>
            <a:ext cx="365760" cy="365760"/>
          </a:xfrm>
          <a:prstGeom prst="rect">
            <a:avLst/>
          </a:prstGeom>
          <a:noFill/>
          <a:ln/>
        </p:spPr>
        <p:txBody>
          <a:bodyPr wrap="square" lIns="0" tIns="0" rIns="0" bIns="0" rtlCol="0" anchor="ctr"/>
          <a:lstStyle/>
          <a:p>
            <a:pPr algn="ctr" indent="0" marL="0">
              <a:buNone/>
            </a:pPr>
            <a:r>
              <a:rPr lang="en-US" sz="1300" b="1" dirty="0">
                <a:solidFill>
                  <a:srgbClr val="10261F"/>
                </a:solidFill>
                <a:latin typeface="Calibri" pitchFamily="34" charset="0"/>
                <a:ea typeface="Calibri" pitchFamily="34" charset="-122"/>
                <a:cs typeface="Calibri" pitchFamily="34" charset="-120"/>
              </a:rPr>
              <a:t>3</a:t>
            </a:r>
            <a:endParaRPr lang="en-US" sz="1300" dirty="0"/>
          </a:p>
        </p:txBody>
      </p:sp>
      <p:sp>
        <p:nvSpPr>
          <p:cNvPr id="32" name="Text 30"/>
          <p:cNvSpPr txBox="1"/>
          <p:nvPr/>
        </p:nvSpPr>
        <p:spPr>
          <a:xfrm>
            <a:off x="7132320" y="4123944"/>
            <a:ext cx="42062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Cross-validation, error analysis, fine-grained task</a:t>
            </a:r>
            <a:endParaRPr lang="en-US" sz="1600" dirty="0"/>
          </a:p>
        </p:txBody>
      </p:sp>
      <p:sp>
        <p:nvSpPr>
          <p:cNvPr id="33" name="Dot"/>
          <p:cNvSpPr/>
          <p:nvPr/>
        </p:nvSpPr>
        <p:spPr>
          <a:xfrm>
            <a:off x="6583680" y="4782312"/>
            <a:ext cx="365760" cy="365760"/>
          </a:xfrm>
          <a:prstGeom prst="ellipse">
            <a:avLst/>
          </a:prstGeom>
          <a:solidFill>
            <a:srgbClr val="C9A24B"/>
          </a:solidFill>
          <a:ln w="12700">
            <a:solidFill>
              <a:srgbClr val="C9A24B"/>
            </a:solidFill>
            <a:prstDash val="solid"/>
          </a:ln>
        </p:spPr>
      </p:sp>
      <p:sp>
        <p:nvSpPr>
          <p:cNvPr id="34" name="Text 32"/>
          <p:cNvSpPr txBox="1"/>
          <p:nvPr/>
        </p:nvSpPr>
        <p:spPr>
          <a:xfrm>
            <a:off x="6583680" y="4782312"/>
            <a:ext cx="365760" cy="365760"/>
          </a:xfrm>
          <a:prstGeom prst="rect">
            <a:avLst/>
          </a:prstGeom>
          <a:noFill/>
          <a:ln/>
        </p:spPr>
        <p:txBody>
          <a:bodyPr wrap="square" lIns="0" tIns="0" rIns="0" bIns="0" rtlCol="0" anchor="ctr"/>
          <a:lstStyle/>
          <a:p>
            <a:pPr algn="ctr" indent="0" marL="0">
              <a:buNone/>
            </a:pPr>
            <a:r>
              <a:rPr lang="en-US" sz="1300" b="1" dirty="0">
                <a:solidFill>
                  <a:srgbClr val="10261F"/>
                </a:solidFill>
                <a:latin typeface="Calibri" pitchFamily="34" charset="0"/>
                <a:ea typeface="Calibri" pitchFamily="34" charset="-122"/>
                <a:cs typeface="Calibri" pitchFamily="34" charset="-120"/>
              </a:rPr>
              <a:t>4</a:t>
            </a:r>
            <a:endParaRPr lang="en-US" sz="1300" dirty="0"/>
          </a:p>
        </p:txBody>
      </p:sp>
      <p:sp>
        <p:nvSpPr>
          <p:cNvPr id="35" name="Text 33"/>
          <p:cNvSpPr txBox="1"/>
          <p:nvPr/>
        </p:nvSpPr>
        <p:spPr>
          <a:xfrm>
            <a:off x="7132320" y="4745736"/>
            <a:ext cx="42062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Streamlit demo with word-level explanations</a:t>
            </a:r>
            <a:endParaRPr lang="en-US" sz="1600" dirty="0"/>
          </a:p>
        </p:txBody>
      </p:sp>
      <p:sp>
        <p:nvSpPr>
          <p:cNvPr id="36" name="Text 34"/>
          <p:cNvSpPr txBox="1"/>
          <p:nvPr/>
        </p:nvSpPr>
        <p:spPr>
          <a:xfrm>
            <a:off x="640080" y="5623560"/>
            <a:ext cx="10881360" cy="548640"/>
          </a:xfrm>
          <a:prstGeom prst="rect">
            <a:avLst/>
          </a:prstGeom>
          <a:noFill/>
          <a:ln/>
        </p:spPr>
        <p:txBody>
          <a:bodyPr wrap="square" lIns="0" tIns="0" rIns="0" bIns="0" rtlCol="0" anchor="t"/>
          <a:lstStyle/>
          <a:p>
            <a:pPr indent="0" marL="0">
              <a:buNone/>
            </a:pPr>
            <a:r>
              <a:rPr lang="en-US" sz="1300" i="1" dirty="0">
                <a:solidFill>
                  <a:srgbClr val="5C6B64"/>
                </a:solidFill>
                <a:latin typeface="Calibri" pitchFamily="34" charset="0"/>
                <a:ea typeface="Calibri" pitchFamily="34" charset="-122"/>
                <a:cs typeface="Calibri" pitchFamily="34" charset="-120"/>
              </a:rPr>
              <a:t>The paper reports accuracy on 15 issue areas (about 0.47 for LDA, 0.63 for Doc2Vec); we use 13 after cleaning, so comparisons are indicative only. Its ordering, Doc2Vec above LDA, is reproduced.</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03</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5C6B64"/>
                </a:solidFill>
                <a:latin typeface="Calibri" pitchFamily="34" charset="0"/>
                <a:ea typeface="Calibri" pitchFamily="34" charset="-122"/>
                <a:cs typeface="Calibri" pitchFamily="34" charset="-120"/>
              </a:rPr>
              <a:t>METHOD</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10261F"/>
                </a:solidFill>
                <a:latin typeface="Cambria" pitchFamily="34" charset="0"/>
                <a:ea typeface="Cambria" pitchFamily="34" charset="-122"/>
                <a:cs typeface="Cambria" pitchFamily="34" charset="-120"/>
              </a:rPr>
              <a:t>Approach: split first, then fit anything</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2F7A5F"/>
                </a:solidFill>
                <a:latin typeface="Calibri" pitchFamily="34" charset="0"/>
                <a:ea typeface="Calibri" pitchFamily="34" charset="-122"/>
                <a:cs typeface="Calibri" pitchFamily="34" charset="-120"/>
              </a:rPr>
              <a:t>A leak-proof pipeline: nothing learns from validation or test data before the final check.</a:t>
            </a:r>
            <a:endParaRPr lang="en-US" sz="1600" dirty="0"/>
          </a:p>
        </p:txBody>
      </p:sp>
      <p:sp>
        <p:nvSpPr>
          <p:cNvPr id="6" name="Path"/>
          <p:cNvSpPr/>
          <p:nvPr/>
        </p:nvSpPr>
        <p:spPr>
          <a:xfrm>
            <a:off x="822960" y="2057400"/>
            <a:ext cx="10515600" cy="0"/>
          </a:xfrm>
          <a:prstGeom prst="line">
            <a:avLst/>
          </a:prstGeom>
          <a:noFill/>
          <a:ln w="25400">
            <a:solidFill>
              <a:srgbClr val="C9A24B"/>
            </a:solidFill>
            <a:prstDash val="dash"/>
          </a:ln>
        </p:spPr>
      </p:sp>
      <p:sp>
        <p:nvSpPr>
          <p:cNvPr id="7" name="Step 1"/>
          <p:cNvSpPr/>
          <p:nvPr/>
        </p:nvSpPr>
        <p:spPr>
          <a:xfrm>
            <a:off x="685800" y="1691640"/>
            <a:ext cx="731520" cy="731520"/>
          </a:xfrm>
          <a:prstGeom prst="ellipse">
            <a:avLst/>
          </a:prstGeom>
          <a:solidFill>
            <a:srgbClr val="1D4034"/>
          </a:solidFill>
          <a:ln w="50800">
            <a:solidFill>
              <a:srgbClr val="FFFFFF"/>
            </a:solidFill>
            <a:prstDash val="solid"/>
          </a:ln>
        </p:spPr>
      </p:sp>
      <p:sp>
        <p:nvSpPr>
          <p:cNvPr id="8" name="Text 6"/>
          <p:cNvSpPr txBox="1"/>
          <p:nvPr/>
        </p:nvSpPr>
        <p:spPr>
          <a:xfrm>
            <a:off x="685800" y="16916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txBox="1"/>
          <p:nvPr/>
        </p:nvSpPr>
        <p:spPr>
          <a:xfrm>
            <a:off x="640080" y="2560320"/>
            <a:ext cx="2011680" cy="411480"/>
          </a:xfrm>
          <a:prstGeom prst="rect">
            <a:avLst/>
          </a:prstGeom>
          <a:noFill/>
          <a:ln/>
        </p:spPr>
        <p:txBody>
          <a:bodyPr wrap="square" lIns="0" tIns="0" rIns="0" bIns="0" rtlCol="0" anchor="ctr"/>
          <a:lstStyle/>
          <a:p>
            <a:pPr indent="0" marL="0">
              <a:buNone/>
            </a:pPr>
            <a:r>
              <a:rPr lang="en-US" sz="2200" b="1" dirty="0">
                <a:solidFill>
                  <a:srgbClr val="10261F"/>
                </a:solidFill>
                <a:latin typeface="Cambria" pitchFamily="34" charset="0"/>
                <a:ea typeface="Cambria" pitchFamily="34" charset="-122"/>
                <a:cs typeface="Cambria" pitchFamily="34" charset="-120"/>
              </a:rPr>
              <a:t>Clean</a:t>
            </a:r>
            <a:endParaRPr lang="en-US" sz="2200" dirty="0"/>
          </a:p>
        </p:txBody>
      </p:sp>
      <p:sp>
        <p:nvSpPr>
          <p:cNvPr id="10" name="Text 8"/>
          <p:cNvSpPr txBox="1"/>
          <p:nvPr/>
        </p:nvSpPr>
        <p:spPr>
          <a:xfrm>
            <a:off x="640080" y="2971800"/>
            <a:ext cx="1920240" cy="868680"/>
          </a:xfrm>
          <a:prstGeom prst="rect">
            <a:avLst/>
          </a:prstGeom>
          <a:noFill/>
          <a:ln/>
        </p:spPr>
        <p:txBody>
          <a:bodyPr wrap="square" lIns="0" tIns="0" rIns="0" bIns="0" rtlCol="0" anchor="t"/>
          <a:lstStyle/>
          <a:p>
            <a:pPr indent="0" marL="0">
              <a:buNone/>
            </a:pPr>
            <a:r>
              <a:rPr lang="en-US" sz="1400" dirty="0">
                <a:solidFill>
                  <a:srgbClr val="5C6B64"/>
                </a:solidFill>
                <a:latin typeface="Calibri" pitchFamily="34" charset="0"/>
                <a:ea typeface="Calibri" pitchFamily="34" charset="-122"/>
                <a:cs typeface="Calibri" pitchFamily="34" charset="-120"/>
              </a:rPr>
              <a:t>Drop short, unlabeled, duplicate texts</a:t>
            </a:r>
            <a:endParaRPr lang="en-US" sz="1400" dirty="0"/>
          </a:p>
        </p:txBody>
      </p:sp>
      <p:sp>
        <p:nvSpPr>
          <p:cNvPr id="11" name="Step 2"/>
          <p:cNvSpPr/>
          <p:nvPr/>
        </p:nvSpPr>
        <p:spPr>
          <a:xfrm>
            <a:off x="2903220" y="1691640"/>
            <a:ext cx="731520" cy="731520"/>
          </a:xfrm>
          <a:prstGeom prst="ellipse">
            <a:avLst/>
          </a:prstGeom>
          <a:solidFill>
            <a:srgbClr val="1D4034"/>
          </a:solidFill>
          <a:ln w="50800">
            <a:solidFill>
              <a:srgbClr val="FFFFFF"/>
            </a:solidFill>
            <a:prstDash val="solid"/>
          </a:ln>
        </p:spPr>
      </p:sp>
      <p:sp>
        <p:nvSpPr>
          <p:cNvPr id="12" name="Text 10"/>
          <p:cNvSpPr txBox="1"/>
          <p:nvPr/>
        </p:nvSpPr>
        <p:spPr>
          <a:xfrm>
            <a:off x="2903220" y="16916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2857500" y="2560320"/>
            <a:ext cx="2011680" cy="411480"/>
          </a:xfrm>
          <a:prstGeom prst="rect">
            <a:avLst/>
          </a:prstGeom>
          <a:noFill/>
          <a:ln/>
        </p:spPr>
        <p:txBody>
          <a:bodyPr wrap="square" lIns="0" tIns="0" rIns="0" bIns="0" rtlCol="0" anchor="ctr"/>
          <a:lstStyle/>
          <a:p>
            <a:pPr indent="0" marL="0">
              <a:buNone/>
            </a:pPr>
            <a:r>
              <a:rPr lang="en-US" sz="2200" b="1" dirty="0">
                <a:solidFill>
                  <a:srgbClr val="10261F"/>
                </a:solidFill>
                <a:latin typeface="Cambria" pitchFamily="34" charset="0"/>
                <a:ea typeface="Cambria" pitchFamily="34" charset="-122"/>
                <a:cs typeface="Cambria" pitchFamily="34" charset="-120"/>
              </a:rPr>
              <a:t>Split</a:t>
            </a:r>
            <a:endParaRPr lang="en-US" sz="2200" dirty="0"/>
          </a:p>
        </p:txBody>
      </p:sp>
      <p:sp>
        <p:nvSpPr>
          <p:cNvPr id="14" name="Text 12"/>
          <p:cNvSpPr txBox="1"/>
          <p:nvPr/>
        </p:nvSpPr>
        <p:spPr>
          <a:xfrm>
            <a:off x="2857500" y="2971800"/>
            <a:ext cx="1920240" cy="868680"/>
          </a:xfrm>
          <a:prstGeom prst="rect">
            <a:avLst/>
          </a:prstGeom>
          <a:noFill/>
          <a:ln/>
        </p:spPr>
        <p:txBody>
          <a:bodyPr wrap="square" lIns="0" tIns="0" rIns="0" bIns="0" rtlCol="0" anchor="t"/>
          <a:lstStyle/>
          <a:p>
            <a:pPr indent="0" marL="0">
              <a:buNone/>
            </a:pPr>
            <a:r>
              <a:rPr lang="en-US" sz="1400" dirty="0">
                <a:solidFill>
                  <a:srgbClr val="5C6B64"/>
                </a:solidFill>
                <a:latin typeface="Calibri" pitchFamily="34" charset="0"/>
                <a:ea typeface="Calibri" pitchFamily="34" charset="-122"/>
                <a:cs typeface="Calibri" pitchFamily="34" charset="-120"/>
              </a:rPr>
              <a:t>70 / 15 / 15, stratified, seed 42</a:t>
            </a:r>
            <a:endParaRPr lang="en-US" sz="1400" dirty="0"/>
          </a:p>
        </p:txBody>
      </p:sp>
      <p:sp>
        <p:nvSpPr>
          <p:cNvPr id="15" name="Step 3"/>
          <p:cNvSpPr/>
          <p:nvPr/>
        </p:nvSpPr>
        <p:spPr>
          <a:xfrm>
            <a:off x="5120640" y="1691640"/>
            <a:ext cx="731520" cy="731520"/>
          </a:xfrm>
          <a:prstGeom prst="ellipse">
            <a:avLst/>
          </a:prstGeom>
          <a:solidFill>
            <a:srgbClr val="1D4034"/>
          </a:solidFill>
          <a:ln w="50800">
            <a:solidFill>
              <a:srgbClr val="FFFFFF"/>
            </a:solidFill>
            <a:prstDash val="solid"/>
          </a:ln>
        </p:spPr>
      </p:sp>
      <p:sp>
        <p:nvSpPr>
          <p:cNvPr id="16" name="Text 14"/>
          <p:cNvSpPr txBox="1"/>
          <p:nvPr/>
        </p:nvSpPr>
        <p:spPr>
          <a:xfrm>
            <a:off x="5120640" y="16916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5074920" y="2560320"/>
            <a:ext cx="2011680" cy="411480"/>
          </a:xfrm>
          <a:prstGeom prst="rect">
            <a:avLst/>
          </a:prstGeom>
          <a:noFill/>
          <a:ln/>
        </p:spPr>
        <p:txBody>
          <a:bodyPr wrap="square" lIns="0" tIns="0" rIns="0" bIns="0" rtlCol="0" anchor="ctr"/>
          <a:lstStyle/>
          <a:p>
            <a:pPr indent="0" marL="0">
              <a:buNone/>
            </a:pPr>
            <a:r>
              <a:rPr lang="en-US" sz="2200" b="1" dirty="0">
                <a:solidFill>
                  <a:srgbClr val="10261F"/>
                </a:solidFill>
                <a:latin typeface="Cambria" pitchFamily="34" charset="0"/>
                <a:ea typeface="Cambria" pitchFamily="34" charset="-122"/>
                <a:cs typeface="Cambria" pitchFamily="34" charset="-120"/>
              </a:rPr>
              <a:t>Features</a:t>
            </a:r>
            <a:endParaRPr lang="en-US" sz="2200" dirty="0"/>
          </a:p>
        </p:txBody>
      </p:sp>
      <p:sp>
        <p:nvSpPr>
          <p:cNvPr id="18" name="Text 16"/>
          <p:cNvSpPr txBox="1"/>
          <p:nvPr/>
        </p:nvSpPr>
        <p:spPr>
          <a:xfrm>
            <a:off x="5074920" y="2971800"/>
            <a:ext cx="1920240" cy="868680"/>
          </a:xfrm>
          <a:prstGeom prst="rect">
            <a:avLst/>
          </a:prstGeom>
          <a:noFill/>
          <a:ln/>
        </p:spPr>
        <p:txBody>
          <a:bodyPr wrap="square" lIns="0" tIns="0" rIns="0" bIns="0" rtlCol="0" anchor="t"/>
          <a:lstStyle/>
          <a:p>
            <a:pPr indent="0" marL="0">
              <a:buNone/>
            </a:pPr>
            <a:r>
              <a:rPr lang="en-US" sz="1400" dirty="0">
                <a:solidFill>
                  <a:srgbClr val="5C6B64"/>
                </a:solidFill>
                <a:latin typeface="Calibri" pitchFamily="34" charset="0"/>
                <a:ea typeface="Calibri" pitchFamily="34" charset="-122"/>
                <a:cs typeface="Calibri" pitchFamily="34" charset="-120"/>
              </a:rPr>
              <a:t>TF-IDF, LDA topics, Doc2Vec; fit on train only</a:t>
            </a:r>
            <a:endParaRPr lang="en-US" sz="1400" dirty="0"/>
          </a:p>
        </p:txBody>
      </p:sp>
      <p:sp>
        <p:nvSpPr>
          <p:cNvPr id="19" name="Step 4"/>
          <p:cNvSpPr/>
          <p:nvPr/>
        </p:nvSpPr>
        <p:spPr>
          <a:xfrm>
            <a:off x="7338060" y="1691640"/>
            <a:ext cx="731520" cy="731520"/>
          </a:xfrm>
          <a:prstGeom prst="ellipse">
            <a:avLst/>
          </a:prstGeom>
          <a:solidFill>
            <a:srgbClr val="1D4034"/>
          </a:solidFill>
          <a:ln w="50800">
            <a:solidFill>
              <a:srgbClr val="FFFFFF"/>
            </a:solidFill>
            <a:prstDash val="solid"/>
          </a:ln>
        </p:spPr>
      </p:sp>
      <p:sp>
        <p:nvSpPr>
          <p:cNvPr id="20" name="Text 18"/>
          <p:cNvSpPr txBox="1"/>
          <p:nvPr/>
        </p:nvSpPr>
        <p:spPr>
          <a:xfrm>
            <a:off x="7338060" y="169164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292340" y="2560320"/>
            <a:ext cx="2011680" cy="411480"/>
          </a:xfrm>
          <a:prstGeom prst="rect">
            <a:avLst/>
          </a:prstGeom>
          <a:noFill/>
          <a:ln/>
        </p:spPr>
        <p:txBody>
          <a:bodyPr wrap="square" lIns="0" tIns="0" rIns="0" bIns="0" rtlCol="0" anchor="ctr"/>
          <a:lstStyle/>
          <a:p>
            <a:pPr indent="0" marL="0">
              <a:buNone/>
            </a:pPr>
            <a:r>
              <a:rPr lang="en-US" sz="2200" b="1" dirty="0">
                <a:solidFill>
                  <a:srgbClr val="10261F"/>
                </a:solidFill>
                <a:latin typeface="Cambria" pitchFamily="34" charset="0"/>
                <a:ea typeface="Cambria" pitchFamily="34" charset="-122"/>
                <a:cs typeface="Cambria" pitchFamily="34" charset="-120"/>
              </a:rPr>
              <a:t>Models</a:t>
            </a:r>
            <a:endParaRPr lang="en-US" sz="2200" dirty="0"/>
          </a:p>
        </p:txBody>
      </p:sp>
      <p:sp>
        <p:nvSpPr>
          <p:cNvPr id="22" name="Text 20"/>
          <p:cNvSpPr txBox="1"/>
          <p:nvPr/>
        </p:nvSpPr>
        <p:spPr>
          <a:xfrm>
            <a:off x="7292340" y="2971800"/>
            <a:ext cx="1920240" cy="868680"/>
          </a:xfrm>
          <a:prstGeom prst="rect">
            <a:avLst/>
          </a:prstGeom>
          <a:noFill/>
          <a:ln/>
        </p:spPr>
        <p:txBody>
          <a:bodyPr wrap="square" lIns="0" tIns="0" rIns="0" bIns="0" rtlCol="0" anchor="t"/>
          <a:lstStyle/>
          <a:p>
            <a:pPr indent="0" marL="0">
              <a:buNone/>
            </a:pPr>
            <a:r>
              <a:rPr lang="en-US" sz="1400" dirty="0">
                <a:solidFill>
                  <a:srgbClr val="5C6B64"/>
                </a:solidFill>
                <a:latin typeface="Calibri" pitchFamily="34" charset="0"/>
                <a:ea typeface="Calibri" pitchFamily="34" charset="-122"/>
                <a:cs typeface="Calibri" pitchFamily="34" charset="-120"/>
              </a:rPr>
              <a:t>Majority, LogReg, Linear SVM, NB, paper models</a:t>
            </a:r>
            <a:endParaRPr lang="en-US" sz="1400" dirty="0"/>
          </a:p>
        </p:txBody>
      </p:sp>
      <p:sp>
        <p:nvSpPr>
          <p:cNvPr id="23" name="Step 5"/>
          <p:cNvSpPr/>
          <p:nvPr/>
        </p:nvSpPr>
        <p:spPr>
          <a:xfrm>
            <a:off x="9555480" y="1691640"/>
            <a:ext cx="731520" cy="731520"/>
          </a:xfrm>
          <a:prstGeom prst="ellipse">
            <a:avLst/>
          </a:prstGeom>
          <a:solidFill>
            <a:srgbClr val="C9A24B"/>
          </a:solidFill>
          <a:ln w="50800">
            <a:solidFill>
              <a:srgbClr val="FFFFFF"/>
            </a:solidFill>
            <a:prstDash val="solid"/>
          </a:ln>
        </p:spPr>
      </p:sp>
      <p:sp>
        <p:nvSpPr>
          <p:cNvPr id="24" name="Text 22"/>
          <p:cNvSpPr txBox="1"/>
          <p:nvPr/>
        </p:nvSpPr>
        <p:spPr>
          <a:xfrm>
            <a:off x="9555480" y="1691640"/>
            <a:ext cx="731520" cy="731520"/>
          </a:xfrm>
          <a:prstGeom prst="rect">
            <a:avLst/>
          </a:prstGeom>
          <a:noFill/>
          <a:ln/>
        </p:spPr>
        <p:txBody>
          <a:bodyPr wrap="square" lIns="0" tIns="0" rIns="0" bIns="0" rtlCol="0" anchor="ctr"/>
          <a:lstStyle/>
          <a:p>
            <a:pPr algn="ctr" indent="0" marL="0">
              <a:buNone/>
            </a:pPr>
            <a:r>
              <a:rPr lang="en-US" sz="2200" b="1" dirty="0">
                <a:solidFill>
                  <a:srgbClr val="10261F"/>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509760" y="2560320"/>
            <a:ext cx="2011680" cy="411480"/>
          </a:xfrm>
          <a:prstGeom prst="rect">
            <a:avLst/>
          </a:prstGeom>
          <a:noFill/>
          <a:ln/>
        </p:spPr>
        <p:txBody>
          <a:bodyPr wrap="square" lIns="0" tIns="0" rIns="0" bIns="0" rtlCol="0" anchor="ctr"/>
          <a:lstStyle/>
          <a:p>
            <a:pPr indent="0" marL="0">
              <a:buNone/>
            </a:pPr>
            <a:r>
              <a:rPr lang="en-US" sz="2200" b="1" dirty="0">
                <a:solidFill>
                  <a:srgbClr val="10261F"/>
                </a:solidFill>
                <a:latin typeface="Cambria" pitchFamily="34" charset="0"/>
                <a:ea typeface="Cambria" pitchFamily="34" charset="-122"/>
                <a:cs typeface="Cambria" pitchFamily="34" charset="-120"/>
              </a:rPr>
              <a:t>Evaluate</a:t>
            </a:r>
            <a:endParaRPr lang="en-US" sz="2200" dirty="0"/>
          </a:p>
        </p:txBody>
      </p:sp>
      <p:sp>
        <p:nvSpPr>
          <p:cNvPr id="26" name="Text 24"/>
          <p:cNvSpPr txBox="1"/>
          <p:nvPr/>
        </p:nvSpPr>
        <p:spPr>
          <a:xfrm>
            <a:off x="9509760" y="2971800"/>
            <a:ext cx="1920240" cy="868680"/>
          </a:xfrm>
          <a:prstGeom prst="rect">
            <a:avLst/>
          </a:prstGeom>
          <a:noFill/>
          <a:ln/>
        </p:spPr>
        <p:txBody>
          <a:bodyPr wrap="square" lIns="0" tIns="0" rIns="0" bIns="0" rtlCol="0" anchor="t"/>
          <a:lstStyle/>
          <a:p>
            <a:pPr indent="0" marL="0">
              <a:buNone/>
            </a:pPr>
            <a:r>
              <a:rPr lang="en-US" sz="1400" dirty="0">
                <a:solidFill>
                  <a:srgbClr val="5C6B64"/>
                </a:solidFill>
                <a:latin typeface="Calibri" pitchFamily="34" charset="0"/>
                <a:ea typeface="Calibri" pitchFamily="34" charset="-122"/>
                <a:cs typeface="Calibri" pitchFamily="34" charset="-120"/>
              </a:rPr>
              <a:t>Pick on validation macro-F1; test used once</a:t>
            </a:r>
            <a:endParaRPr lang="en-US" sz="1400" dirty="0"/>
          </a:p>
        </p:txBody>
      </p:sp>
      <p:sp>
        <p:nvSpPr>
          <p:cNvPr id="27" name="Leakage band"/>
          <p:cNvSpPr/>
          <p:nvPr/>
        </p:nvSpPr>
        <p:spPr>
          <a:xfrm>
            <a:off x="640080" y="4114800"/>
            <a:ext cx="10927080" cy="2011680"/>
          </a:xfrm>
          <a:prstGeom prst="roundRect">
            <a:avLst>
              <a:gd name="adj" fmla="val 5455"/>
            </a:avLst>
          </a:prstGeom>
          <a:solidFill>
            <a:srgbClr val="1D4034"/>
          </a:solidFill>
          <a:ln w="12700">
            <a:solidFill>
              <a:srgbClr val="1D4034"/>
            </a:solidFill>
            <a:prstDash val="solid"/>
          </a:ln>
        </p:spPr>
      </p:sp>
      <p:sp>
        <p:nvSpPr>
          <p:cNvPr id="28" name="Text 26"/>
          <p:cNvSpPr txBox="1"/>
          <p:nvPr/>
        </p:nvSpPr>
        <p:spPr>
          <a:xfrm>
            <a:off x="914400" y="4251960"/>
            <a:ext cx="3657600" cy="320040"/>
          </a:xfrm>
          <a:prstGeom prst="rect">
            <a:avLst/>
          </a:prstGeom>
          <a:noFill/>
          <a:ln/>
        </p:spPr>
        <p:txBody>
          <a:bodyPr wrap="square" lIns="0" tIns="0" rIns="0" bIns="0" rtlCol="0" anchor="ctr"/>
          <a:lstStyle/>
          <a:p>
            <a:pPr indent="0" marL="0">
              <a:buNone/>
            </a:pPr>
            <a:r>
              <a:rPr lang="en-US" sz="1200" b="1" spc="400" kern="0" dirty="0">
                <a:solidFill>
                  <a:srgbClr val="C9A24B"/>
                </a:solidFill>
                <a:latin typeface="Calibri" pitchFamily="34" charset="0"/>
                <a:ea typeface="Calibri" pitchFamily="34" charset="-122"/>
                <a:cs typeface="Calibri" pitchFamily="34" charset="-120"/>
              </a:rPr>
              <a:t>LEAKAGE CHECKS</a:t>
            </a:r>
            <a:endParaRPr lang="en-US" sz="1200" dirty="0"/>
          </a:p>
        </p:txBody>
      </p:sp>
      <p:sp>
        <p:nvSpPr>
          <p:cNvPr id="29" name="Text 27"/>
          <p:cNvSpPr txBox="1"/>
          <p:nvPr/>
        </p:nvSpPr>
        <p:spPr>
          <a:xfrm>
            <a:off x="914400" y="4617720"/>
            <a:ext cx="32918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a:t>
            </a:r>
            <a:endParaRPr lang="en-US" sz="4000" dirty="0"/>
          </a:p>
        </p:txBody>
      </p:sp>
      <p:sp>
        <p:nvSpPr>
          <p:cNvPr id="30" name="Text 28"/>
          <p:cNvSpPr txBox="1"/>
          <p:nvPr/>
        </p:nvSpPr>
        <p:spPr>
          <a:xfrm>
            <a:off x="914400" y="5303520"/>
            <a:ext cx="3200400" cy="685800"/>
          </a:xfrm>
          <a:prstGeom prst="rect">
            <a:avLst/>
          </a:prstGeom>
          <a:noFill/>
          <a:ln/>
        </p:spPr>
        <p:txBody>
          <a:bodyPr wrap="square" lIns="0" tIns="0" rIns="0" bIns="0" rtlCol="0" anchor="t"/>
          <a:lstStyle/>
          <a:p>
            <a:pPr indent="0" marL="0">
              <a:buNone/>
            </a:pPr>
            <a:r>
              <a:rPr lang="en-US" sz="1300" dirty="0">
                <a:solidFill>
                  <a:srgbClr val="C9DBD2"/>
                </a:solidFill>
                <a:latin typeface="Calibri" pitchFamily="34" charset="0"/>
                <a:ea typeface="Calibri" pitchFamily="34" charset="-122"/>
                <a:cs typeface="Calibri" pitchFamily="34" charset="-120"/>
              </a:rPr>
              <a:t>identical texts shared by two splits</a:t>
            </a:r>
            <a:endParaRPr lang="en-US" sz="1300" dirty="0"/>
          </a:p>
        </p:txBody>
      </p:sp>
      <p:sp>
        <p:nvSpPr>
          <p:cNvPr id="31" name="Text 29"/>
          <p:cNvSpPr txBox="1"/>
          <p:nvPr/>
        </p:nvSpPr>
        <p:spPr>
          <a:xfrm>
            <a:off x="4480560" y="4617720"/>
            <a:ext cx="32918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0.167</a:t>
            </a:r>
            <a:endParaRPr lang="en-US" sz="4000" dirty="0"/>
          </a:p>
        </p:txBody>
      </p:sp>
      <p:sp>
        <p:nvSpPr>
          <p:cNvPr id="32" name="Text 30"/>
          <p:cNvSpPr txBox="1"/>
          <p:nvPr/>
        </p:nvSpPr>
        <p:spPr>
          <a:xfrm>
            <a:off x="4480560" y="5303520"/>
            <a:ext cx="3200400" cy="685800"/>
          </a:xfrm>
          <a:prstGeom prst="rect">
            <a:avLst/>
          </a:prstGeom>
          <a:noFill/>
          <a:ln/>
        </p:spPr>
        <p:txBody>
          <a:bodyPr wrap="square" lIns="0" tIns="0" rIns="0" bIns="0" rtlCol="0" anchor="t"/>
          <a:lstStyle/>
          <a:p>
            <a:pPr indent="0" marL="0">
              <a:buNone/>
            </a:pPr>
            <a:r>
              <a:rPr lang="en-US" sz="1300" dirty="0">
                <a:solidFill>
                  <a:srgbClr val="C9DBD2"/>
                </a:solidFill>
                <a:latin typeface="Calibri" pitchFamily="34" charset="0"/>
                <a:ea typeface="Calibri" pitchFamily="34" charset="-122"/>
                <a:cs typeface="Calibri" pitchFamily="34" charset="-120"/>
              </a:rPr>
              <a:t>validation accuracy with shuffled labels, below the 0.231 majority rate</a:t>
            </a:r>
            <a:endParaRPr lang="en-US" sz="1300" dirty="0"/>
          </a:p>
        </p:txBody>
      </p:sp>
      <p:sp>
        <p:nvSpPr>
          <p:cNvPr id="33" name="Text 31"/>
          <p:cNvSpPr txBox="1"/>
          <p:nvPr/>
        </p:nvSpPr>
        <p:spPr>
          <a:xfrm>
            <a:off x="8046720" y="4617720"/>
            <a:ext cx="32918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34" name="Text 32"/>
          <p:cNvSpPr txBox="1"/>
          <p:nvPr/>
        </p:nvSpPr>
        <p:spPr>
          <a:xfrm>
            <a:off x="8046720" y="5303520"/>
            <a:ext cx="3200400" cy="685800"/>
          </a:xfrm>
          <a:prstGeom prst="rect">
            <a:avLst/>
          </a:prstGeom>
          <a:noFill/>
          <a:ln/>
        </p:spPr>
        <p:txBody>
          <a:bodyPr wrap="square" lIns="0" tIns="0" rIns="0" bIns="0" rtlCol="0" anchor="t"/>
          <a:lstStyle/>
          <a:p>
            <a:pPr indent="0" marL="0">
              <a:buNone/>
            </a:pPr>
            <a:r>
              <a:rPr lang="en-US" sz="1300" dirty="0">
                <a:solidFill>
                  <a:srgbClr val="C9DBD2"/>
                </a:solidFill>
                <a:latin typeface="Calibri" pitchFamily="34" charset="0"/>
                <a:ea typeface="Calibri" pitchFamily="34" charset="-122"/>
                <a:cs typeface="Calibri" pitchFamily="34" charset="-120"/>
              </a:rPr>
              <a:t>test set used, after the model was chosen</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04</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5C6B64"/>
                </a:solidFill>
                <a:latin typeface="Calibri" pitchFamily="34" charset="0"/>
                <a:ea typeface="Calibri" pitchFamily="34" charset="-122"/>
                <a:cs typeface="Calibri" pitchFamily="34" charset="-120"/>
              </a:rPr>
              <a:t>RESULTS</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10261F"/>
                </a:solidFill>
                <a:latin typeface="Cambria" pitchFamily="34" charset="0"/>
                <a:ea typeface="Cambria" pitchFamily="34" charset="-122"/>
                <a:cs typeface="Cambria" pitchFamily="34" charset="-120"/>
              </a:rPr>
              <a:t>A simple supervised model wins</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2F7A5F"/>
                </a:solidFill>
                <a:latin typeface="Calibri" pitchFamily="34" charset="0"/>
                <a:ea typeface="Calibri" pitchFamily="34" charset="-122"/>
                <a:cs typeface="Calibri" pitchFamily="34" charset="-120"/>
              </a:rPr>
              <a:t>Simple word-weight features with a Linear SVM beat the topic and embedding models.</a:t>
            </a:r>
            <a:endParaRPr lang="en-US" sz="1600" dirty="0"/>
          </a:p>
        </p:txBody>
      </p:sp>
      <p:graphicFrame>
        <p:nvGraphicFramePr>
          <p:cNvPr id="6" name="Chart 0" descr=""/>
          <p:cNvGraphicFramePr/>
          <p:nvPr/>
        </p:nvGraphicFramePr>
        <p:xfrm>
          <a:off x="548640" y="1691640"/>
          <a:ext cx="7223760" cy="4434840"/>
        </p:xfrm>
        <a:graphic xmlns:a="http://schemas.openxmlformats.org/drawingml/2006/main">
          <a:graphicData uri="http://schemas.openxmlformats.org/drawingml/2006/chart">
            <c:chart xmlns:c="http://schemas.openxmlformats.org/drawingml/2006/chart" r:id="rId1"/>
          </a:graphicData>
        </a:graphic>
      </p:graphicFrame>
      <p:sp>
        <p:nvSpPr>
          <p:cNvPr id="7" name="Stat accuracy"/>
          <p:cNvSpPr/>
          <p:nvPr/>
        </p:nvSpPr>
        <p:spPr>
          <a:xfrm>
            <a:off x="8138160" y="1783080"/>
            <a:ext cx="3429000" cy="2011680"/>
          </a:xfrm>
          <a:prstGeom prst="roundRect">
            <a:avLst>
              <a:gd name="adj" fmla="val 5455"/>
            </a:avLst>
          </a:prstGeom>
          <a:solidFill>
            <a:srgbClr val="1D4034"/>
          </a:solidFill>
          <a:ln w="12700">
            <a:solidFill>
              <a:srgbClr val="1D4034"/>
            </a:solidFill>
            <a:prstDash val="solid"/>
          </a:ln>
        </p:spPr>
      </p:sp>
      <p:sp>
        <p:nvSpPr>
          <p:cNvPr id="8" name="Text 5"/>
          <p:cNvSpPr txBox="1"/>
          <p:nvPr/>
        </p:nvSpPr>
        <p:spPr>
          <a:xfrm>
            <a:off x="8366760" y="1874520"/>
            <a:ext cx="3017520" cy="1005840"/>
          </a:xfrm>
          <a:prstGeom prst="rect">
            <a:avLst/>
          </a:prstGeom>
          <a:noFill/>
          <a:ln/>
        </p:spPr>
        <p:txBody>
          <a:bodyPr wrap="square" lIns="0" tIns="0" rIns="0" bIns="0" rtlCol="0" anchor="ctr"/>
          <a:lstStyle/>
          <a:p>
            <a:pPr indent="0" marL="0">
              <a:buNone/>
            </a:pPr>
            <a:r>
              <a:rPr lang="en-US" sz="6400" b="1" dirty="0">
                <a:solidFill>
                  <a:srgbClr val="C9A24B"/>
                </a:solidFill>
                <a:latin typeface="Cambria" pitchFamily="34" charset="0"/>
                <a:ea typeface="Cambria" pitchFamily="34" charset="-122"/>
                <a:cs typeface="Cambria" pitchFamily="34" charset="-120"/>
              </a:rPr>
              <a:t>0.82</a:t>
            </a:r>
            <a:endParaRPr lang="en-US" sz="6400" dirty="0"/>
          </a:p>
        </p:txBody>
      </p:sp>
      <p:sp>
        <p:nvSpPr>
          <p:cNvPr id="9" name="Text 6"/>
          <p:cNvSpPr txBox="1"/>
          <p:nvPr/>
        </p:nvSpPr>
        <p:spPr>
          <a:xfrm>
            <a:off x="8366760" y="2926080"/>
            <a:ext cx="301752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test accuracy of TF-IDF + Linear SVM (C=0.5)</a:t>
            </a:r>
            <a:endParaRPr lang="en-US" sz="1400" dirty="0"/>
          </a:p>
        </p:txBody>
      </p:sp>
      <p:sp>
        <p:nvSpPr>
          <p:cNvPr id="10" name="Stat F1"/>
          <p:cNvSpPr/>
          <p:nvPr/>
        </p:nvSpPr>
        <p:spPr>
          <a:xfrm>
            <a:off x="8138160" y="4023360"/>
            <a:ext cx="3429000" cy="2011680"/>
          </a:xfrm>
          <a:prstGeom prst="roundRect">
            <a:avLst>
              <a:gd name="adj" fmla="val 5455"/>
            </a:avLst>
          </a:prstGeom>
          <a:solidFill>
            <a:srgbClr val="EEF3EF"/>
          </a:solidFill>
          <a:ln w="12700">
            <a:solidFill>
              <a:srgbClr val="EEF3EF"/>
            </a:solidFill>
            <a:prstDash val="solid"/>
          </a:ln>
        </p:spPr>
      </p:sp>
      <p:sp>
        <p:nvSpPr>
          <p:cNvPr id="11" name="Text 8"/>
          <p:cNvSpPr txBox="1"/>
          <p:nvPr/>
        </p:nvSpPr>
        <p:spPr>
          <a:xfrm>
            <a:off x="8366760" y="4114800"/>
            <a:ext cx="3017520" cy="1005840"/>
          </a:xfrm>
          <a:prstGeom prst="rect">
            <a:avLst/>
          </a:prstGeom>
          <a:noFill/>
          <a:ln/>
        </p:spPr>
        <p:txBody>
          <a:bodyPr wrap="square" lIns="0" tIns="0" rIns="0" bIns="0" rtlCol="0" anchor="ctr"/>
          <a:lstStyle/>
          <a:p>
            <a:pPr indent="0" marL="0">
              <a:buNone/>
            </a:pPr>
            <a:r>
              <a:rPr lang="en-US" sz="6400" b="1" dirty="0">
                <a:solidFill>
                  <a:srgbClr val="1D4034"/>
                </a:solidFill>
                <a:latin typeface="Cambria" pitchFamily="34" charset="0"/>
                <a:ea typeface="Cambria" pitchFamily="34" charset="-122"/>
                <a:cs typeface="Cambria" pitchFamily="34" charset="-120"/>
              </a:rPr>
              <a:t>0.77</a:t>
            </a:r>
            <a:endParaRPr lang="en-US" sz="6400" dirty="0"/>
          </a:p>
        </p:txBody>
      </p:sp>
      <p:sp>
        <p:nvSpPr>
          <p:cNvPr id="12" name="Text 9"/>
          <p:cNvSpPr txBox="1"/>
          <p:nvPr/>
        </p:nvSpPr>
        <p:spPr>
          <a:xfrm>
            <a:off x="8366760" y="5166360"/>
            <a:ext cx="3017520" cy="731520"/>
          </a:xfrm>
          <a:prstGeom prst="rect">
            <a:avLst/>
          </a:prstGeom>
          <a:noFill/>
          <a:ln/>
        </p:spPr>
        <p:txBody>
          <a:bodyPr wrap="square" lIns="0" tIns="0" rIns="0" bIns="0" rtlCol="0" anchor="t"/>
          <a:lstStyle/>
          <a:p>
            <a:pPr indent="0" marL="0">
              <a:buNone/>
            </a:pPr>
            <a:r>
              <a:rPr lang="en-US" sz="1400" dirty="0">
                <a:solidFill>
                  <a:srgbClr val="10261F"/>
                </a:solidFill>
                <a:latin typeface="Calibri" pitchFamily="34" charset="0"/>
                <a:ea typeface="Calibri" pitchFamily="34" charset="-122"/>
                <a:cs typeface="Calibri" pitchFamily="34" charset="-120"/>
              </a:rPr>
              <a:t>macro-F1 (every class counts equally), against 0.03 for the majority baseline</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05</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5C6B64"/>
                </a:solidFill>
                <a:latin typeface="Calibri" pitchFamily="34" charset="0"/>
                <a:ea typeface="Calibri" pitchFamily="34" charset="-122"/>
                <a:cs typeface="Calibri" pitchFamily="34" charset="-120"/>
              </a:rPr>
              <a:t>ROBUSTNESS</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10261F"/>
                </a:solidFill>
                <a:latin typeface="Cambria" pitchFamily="34" charset="0"/>
                <a:ea typeface="Cambria" pitchFamily="34" charset="-122"/>
                <a:cs typeface="Cambria" pitchFamily="34" charset="-120"/>
              </a:rPr>
              <a:t>The result holds up under extra checks</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2F7A5F"/>
                </a:solidFill>
                <a:latin typeface="Calibri" pitchFamily="34" charset="0"/>
                <a:ea typeface="Calibri" pitchFamily="34" charset="-122"/>
                <a:cs typeface="Calibri" pitchFamily="34" charset="-120"/>
              </a:rPr>
              <a:t>Three extra checks agree: the 0.82 result is not a lucky split.</a:t>
            </a:r>
            <a:endParaRPr lang="en-US" sz="1600" dirty="0"/>
          </a:p>
        </p:txBody>
      </p:sp>
      <p:sp>
        <p:nvSpPr>
          <p:cNvPr id="6" name="Card 0"/>
          <p:cNvSpPr/>
          <p:nvPr/>
        </p:nvSpPr>
        <p:spPr>
          <a:xfrm>
            <a:off x="640080" y="1783080"/>
            <a:ext cx="3520440" cy="4114800"/>
          </a:xfrm>
          <a:prstGeom prst="roundRect">
            <a:avLst>
              <a:gd name="adj" fmla="val 3117"/>
            </a:avLst>
          </a:prstGeom>
          <a:solidFill>
            <a:srgbClr val="EEF3EF"/>
          </a:solidFill>
          <a:ln w="12700">
            <a:solidFill>
              <a:srgbClr val="EEF3EF"/>
            </a:solidFill>
            <a:prstDash val="solid"/>
          </a:ln>
        </p:spPr>
      </p:sp>
      <p:sp>
        <p:nvSpPr>
          <p:cNvPr id="7" name="Text 5"/>
          <p:cNvSpPr txBox="1"/>
          <p:nvPr/>
        </p:nvSpPr>
        <p:spPr>
          <a:xfrm>
            <a:off x="914400" y="2011680"/>
            <a:ext cx="3017520" cy="320040"/>
          </a:xfrm>
          <a:prstGeom prst="rect">
            <a:avLst/>
          </a:prstGeom>
          <a:noFill/>
          <a:ln/>
        </p:spPr>
        <p:txBody>
          <a:bodyPr wrap="square" lIns="0" tIns="0" rIns="0" bIns="0" rtlCol="0" anchor="ctr"/>
          <a:lstStyle/>
          <a:p>
            <a:pPr indent="0" marL="0">
              <a:buNone/>
            </a:pPr>
            <a:r>
              <a:rPr lang="en-US" sz="1200" b="1" spc="300" kern="0" dirty="0">
                <a:solidFill>
                  <a:srgbClr val="2F7A5F"/>
                </a:solidFill>
                <a:latin typeface="Calibri" pitchFamily="34" charset="0"/>
                <a:ea typeface="Calibri" pitchFamily="34" charset="-122"/>
                <a:cs typeface="Calibri" pitchFamily="34" charset="-120"/>
              </a:rPr>
              <a:t>5-FOLD CROSS-VALIDATION</a:t>
            </a:r>
            <a:endParaRPr lang="en-US" sz="1200" dirty="0"/>
          </a:p>
        </p:txBody>
      </p:sp>
      <p:sp>
        <p:nvSpPr>
          <p:cNvPr id="8" name="Text 6"/>
          <p:cNvSpPr txBox="1"/>
          <p:nvPr/>
        </p:nvSpPr>
        <p:spPr>
          <a:xfrm>
            <a:off x="914400" y="2514600"/>
            <a:ext cx="3017520" cy="914400"/>
          </a:xfrm>
          <a:prstGeom prst="rect">
            <a:avLst/>
          </a:prstGeom>
          <a:noFill/>
          <a:ln/>
        </p:spPr>
        <p:txBody>
          <a:bodyPr wrap="square" lIns="0" tIns="0" rIns="0" bIns="0" rtlCol="0" anchor="ctr"/>
          <a:lstStyle/>
          <a:p>
            <a:pPr indent="0" marL="0">
              <a:buNone/>
            </a:pPr>
            <a:r>
              <a:rPr lang="en-US" sz="4000" b="1" dirty="0">
                <a:solidFill>
                  <a:srgbClr val="1D4034"/>
                </a:solidFill>
                <a:latin typeface="Cambria" pitchFamily="34" charset="0"/>
                <a:ea typeface="Cambria" pitchFamily="34" charset="-122"/>
                <a:cs typeface="Cambria" pitchFamily="34" charset="-120"/>
              </a:rPr>
              <a:t>0.808 ± 0.020</a:t>
            </a:r>
            <a:endParaRPr lang="en-US" sz="4000" dirty="0"/>
          </a:p>
        </p:txBody>
      </p:sp>
      <p:sp>
        <p:nvSpPr>
          <p:cNvPr id="9" name="Text 7"/>
          <p:cNvSpPr txBox="1"/>
          <p:nvPr/>
        </p:nvSpPr>
        <p:spPr>
          <a:xfrm>
            <a:off x="914400" y="3520440"/>
            <a:ext cx="3017520" cy="457200"/>
          </a:xfrm>
          <a:prstGeom prst="rect">
            <a:avLst/>
          </a:prstGeom>
          <a:noFill/>
          <a:ln/>
        </p:spPr>
        <p:txBody>
          <a:bodyPr wrap="square" lIns="0" tIns="0" rIns="0" bIns="0" rtlCol="0" anchor="t"/>
          <a:lstStyle/>
          <a:p>
            <a:pPr indent="0" marL="0">
              <a:buNone/>
            </a:pPr>
            <a:r>
              <a:rPr lang="en-US" sz="1600" b="1" dirty="0">
                <a:solidFill>
                  <a:srgbClr val="10261F"/>
                </a:solidFill>
                <a:latin typeface="Calibri" pitchFamily="34" charset="0"/>
                <a:ea typeface="Calibri" pitchFamily="34" charset="-122"/>
                <a:cs typeface="Calibri" pitchFamily="34" charset="-120"/>
              </a:rPr>
              <a:t>accuracy</a:t>
            </a:r>
            <a:endParaRPr lang="en-US" sz="1600" dirty="0"/>
          </a:p>
        </p:txBody>
      </p:sp>
      <p:sp>
        <p:nvSpPr>
          <p:cNvPr id="10" name="Text 8"/>
          <p:cNvSpPr txBox="1"/>
          <p:nvPr/>
        </p:nvSpPr>
        <p:spPr>
          <a:xfrm>
            <a:off x="914400" y="4480560"/>
            <a:ext cx="3017520" cy="1097280"/>
          </a:xfrm>
          <a:prstGeom prst="rect">
            <a:avLst/>
          </a:prstGeom>
          <a:noFill/>
          <a:ln/>
        </p:spPr>
        <p:txBody>
          <a:bodyPr wrap="square" lIns="0" tIns="0" rIns="0" bIns="0" rtlCol="0" anchor="t"/>
          <a:lstStyle/>
          <a:p>
            <a:pPr indent="0" marL="0">
              <a:buNone/>
            </a:pPr>
            <a:r>
              <a:rPr lang="en-US" sz="1400" dirty="0">
                <a:solidFill>
                  <a:srgbClr val="5C6B64"/>
                </a:solidFill>
                <a:latin typeface="Calibri" pitchFamily="34" charset="0"/>
                <a:ea typeface="Calibri" pitchFamily="34" charset="-122"/>
                <a:cs typeface="Calibri" pitchFamily="34" charset="-120"/>
              </a:rPr>
              <a:t>macro-F1 0.746 ± 0.027; TF-IDF re-fitted inside each fold</a:t>
            </a:r>
            <a:endParaRPr lang="en-US" sz="1400" dirty="0"/>
          </a:p>
        </p:txBody>
      </p:sp>
      <p:sp>
        <p:nvSpPr>
          <p:cNvPr id="11" name="Card 1"/>
          <p:cNvSpPr/>
          <p:nvPr/>
        </p:nvSpPr>
        <p:spPr>
          <a:xfrm>
            <a:off x="4343400" y="1783080"/>
            <a:ext cx="3520440" cy="4114800"/>
          </a:xfrm>
          <a:prstGeom prst="roundRect">
            <a:avLst>
              <a:gd name="adj" fmla="val 3117"/>
            </a:avLst>
          </a:prstGeom>
          <a:solidFill>
            <a:srgbClr val="1D4034"/>
          </a:solidFill>
          <a:ln w="12700">
            <a:solidFill>
              <a:srgbClr val="1D4034"/>
            </a:solidFill>
            <a:prstDash val="solid"/>
          </a:ln>
        </p:spPr>
      </p:sp>
      <p:sp>
        <p:nvSpPr>
          <p:cNvPr id="12" name="Text 10"/>
          <p:cNvSpPr txBox="1"/>
          <p:nvPr/>
        </p:nvSpPr>
        <p:spPr>
          <a:xfrm>
            <a:off x="4617720" y="2011680"/>
            <a:ext cx="3017520" cy="320040"/>
          </a:xfrm>
          <a:prstGeom prst="rect">
            <a:avLst/>
          </a:prstGeom>
          <a:noFill/>
          <a:ln/>
        </p:spPr>
        <p:txBody>
          <a:bodyPr wrap="square" lIns="0" tIns="0" rIns="0" bIns="0" rtlCol="0" anchor="ctr"/>
          <a:lstStyle/>
          <a:p>
            <a:pPr indent="0" marL="0">
              <a:buNone/>
            </a:pPr>
            <a:r>
              <a:rPr lang="en-US" sz="1200" b="1" spc="300" kern="0" dirty="0">
                <a:solidFill>
                  <a:srgbClr val="C9A24B"/>
                </a:solidFill>
                <a:latin typeface="Calibri" pitchFamily="34" charset="0"/>
                <a:ea typeface="Calibri" pitchFamily="34" charset="-122"/>
                <a:cs typeface="Calibri" pitchFamily="34" charset="-120"/>
              </a:rPr>
              <a:t>FINE-GRAINED TASK</a:t>
            </a:r>
            <a:endParaRPr lang="en-US" sz="1200" dirty="0"/>
          </a:p>
        </p:txBody>
      </p:sp>
      <p:sp>
        <p:nvSpPr>
          <p:cNvPr id="13" name="Text 11"/>
          <p:cNvSpPr txBox="1"/>
          <p:nvPr/>
        </p:nvSpPr>
        <p:spPr>
          <a:xfrm>
            <a:off x="4617720" y="2514600"/>
            <a:ext cx="3017520" cy="914400"/>
          </a:xfrm>
          <a:prstGeom prst="rect">
            <a:avLst/>
          </a:prstGeom>
          <a:noFill/>
          <a:ln/>
        </p:spPr>
        <p:txBody>
          <a:bodyPr wrap="square" lIns="0" tIns="0" rIns="0" bIns="0" rtlCol="0" anchor="ctr"/>
          <a:lstStyle/>
          <a:p>
            <a:pPr indent="0" marL="0">
              <a:buNone/>
            </a:pPr>
            <a:r>
              <a:rPr lang="en-US" sz="5400" b="1" dirty="0">
                <a:solidFill>
                  <a:srgbClr val="C9A24B"/>
                </a:solidFill>
                <a:latin typeface="Cambria" pitchFamily="34" charset="0"/>
                <a:ea typeface="Cambria" pitchFamily="34" charset="-122"/>
                <a:cs typeface="Cambria" pitchFamily="34" charset="-120"/>
              </a:rPr>
              <a:t>0.707</a:t>
            </a:r>
            <a:endParaRPr lang="en-US" sz="5400" dirty="0"/>
          </a:p>
        </p:txBody>
      </p:sp>
      <p:sp>
        <p:nvSpPr>
          <p:cNvPr id="14" name="Text 12"/>
          <p:cNvSpPr txBox="1"/>
          <p:nvPr/>
        </p:nvSpPr>
        <p:spPr>
          <a:xfrm>
            <a:off x="4617720" y="3520440"/>
            <a:ext cx="3017520" cy="4572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accuracy on 141 issue codes</a:t>
            </a:r>
            <a:endParaRPr lang="en-US" sz="1600" dirty="0"/>
          </a:p>
        </p:txBody>
      </p:sp>
      <p:sp>
        <p:nvSpPr>
          <p:cNvPr id="15" name="Text 13"/>
          <p:cNvSpPr txBox="1"/>
          <p:nvPr/>
        </p:nvSpPr>
        <p:spPr>
          <a:xfrm>
            <a:off x="4617720" y="4480560"/>
            <a:ext cx="3017520" cy="1097280"/>
          </a:xfrm>
          <a:prstGeom prst="rect">
            <a:avLst/>
          </a:prstGeom>
          <a:noFill/>
          <a:ln/>
        </p:spPr>
        <p:txBody>
          <a:bodyPr wrap="square" lIns="0" tIns="0" rIns="0" bIns="0" rtlCol="0" anchor="t"/>
          <a:lstStyle/>
          <a:p>
            <a:pPr indent="0" marL="0">
              <a:buNone/>
            </a:pPr>
            <a:r>
              <a:rPr lang="en-US" sz="1400" dirty="0">
                <a:solidFill>
                  <a:srgbClr val="C9DBD2"/>
                </a:solidFill>
                <a:latin typeface="Calibri" pitchFamily="34" charset="0"/>
                <a:ea typeface="Calibri" pitchFamily="34" charset="-122"/>
                <a:cs typeface="Calibri" pitchFamily="34" charset="-120"/>
              </a:rPr>
              <a:t>macro-F1 0.656; top-5 accuracy 0.931 (right code in top 5 guesses); majority code only 0.032</a:t>
            </a:r>
            <a:endParaRPr lang="en-US" sz="1400" dirty="0"/>
          </a:p>
        </p:txBody>
      </p:sp>
      <p:sp>
        <p:nvSpPr>
          <p:cNvPr id="16" name="Card 2"/>
          <p:cNvSpPr/>
          <p:nvPr/>
        </p:nvSpPr>
        <p:spPr>
          <a:xfrm>
            <a:off x="8046720" y="1783080"/>
            <a:ext cx="3520440" cy="4114800"/>
          </a:xfrm>
          <a:prstGeom prst="roundRect">
            <a:avLst>
              <a:gd name="adj" fmla="val 3117"/>
            </a:avLst>
          </a:prstGeom>
          <a:solidFill>
            <a:srgbClr val="EEF3EF"/>
          </a:solidFill>
          <a:ln w="12700">
            <a:solidFill>
              <a:srgbClr val="EEF3EF"/>
            </a:solidFill>
            <a:prstDash val="solid"/>
          </a:ln>
        </p:spPr>
      </p:sp>
      <p:sp>
        <p:nvSpPr>
          <p:cNvPr id="17" name="Text 15"/>
          <p:cNvSpPr txBox="1"/>
          <p:nvPr/>
        </p:nvSpPr>
        <p:spPr>
          <a:xfrm>
            <a:off x="8321040" y="2011680"/>
            <a:ext cx="3017520" cy="320040"/>
          </a:xfrm>
          <a:prstGeom prst="rect">
            <a:avLst/>
          </a:prstGeom>
          <a:noFill/>
          <a:ln/>
        </p:spPr>
        <p:txBody>
          <a:bodyPr wrap="square" lIns="0" tIns="0" rIns="0" bIns="0" rtlCol="0" anchor="ctr"/>
          <a:lstStyle/>
          <a:p>
            <a:pPr indent="0" marL="0">
              <a:buNone/>
            </a:pPr>
            <a:r>
              <a:rPr lang="en-US" sz="1200" b="1" spc="300" kern="0" dirty="0">
                <a:solidFill>
                  <a:srgbClr val="2F7A5F"/>
                </a:solidFill>
                <a:latin typeface="Calibri" pitchFamily="34" charset="0"/>
                <a:ea typeface="Calibri" pitchFamily="34" charset="-122"/>
                <a:cs typeface="Calibri" pitchFamily="34" charset="-120"/>
              </a:rPr>
              <a:t>SINGLE SPLIT VS SPREAD</a:t>
            </a:r>
            <a:endParaRPr lang="en-US" sz="1200" dirty="0"/>
          </a:p>
        </p:txBody>
      </p:sp>
      <p:sp>
        <p:nvSpPr>
          <p:cNvPr id="18" name="Text 16"/>
          <p:cNvSpPr txBox="1"/>
          <p:nvPr/>
        </p:nvSpPr>
        <p:spPr>
          <a:xfrm>
            <a:off x="8321040" y="2514600"/>
            <a:ext cx="3017520" cy="914400"/>
          </a:xfrm>
          <a:prstGeom prst="rect">
            <a:avLst/>
          </a:prstGeom>
          <a:noFill/>
          <a:ln/>
        </p:spPr>
        <p:txBody>
          <a:bodyPr wrap="square" lIns="0" tIns="0" rIns="0" bIns="0" rtlCol="0" anchor="ctr"/>
          <a:lstStyle/>
          <a:p>
            <a:pPr indent="0" marL="0">
              <a:buNone/>
            </a:pPr>
            <a:r>
              <a:rPr lang="en-US" sz="5400" b="1" dirty="0">
                <a:solidFill>
                  <a:srgbClr val="1D4034"/>
                </a:solidFill>
                <a:latin typeface="Cambria" pitchFamily="34" charset="0"/>
                <a:ea typeface="Cambria" pitchFamily="34" charset="-122"/>
                <a:cs typeface="Cambria" pitchFamily="34" charset="-120"/>
              </a:rPr>
              <a:t>0.818</a:t>
            </a:r>
            <a:endParaRPr lang="en-US" sz="5400" dirty="0"/>
          </a:p>
        </p:txBody>
      </p:sp>
      <p:sp>
        <p:nvSpPr>
          <p:cNvPr id="19" name="Text 17"/>
          <p:cNvSpPr txBox="1"/>
          <p:nvPr/>
        </p:nvSpPr>
        <p:spPr>
          <a:xfrm>
            <a:off x="8321040" y="3520440"/>
            <a:ext cx="3017520" cy="457200"/>
          </a:xfrm>
          <a:prstGeom prst="rect">
            <a:avLst/>
          </a:prstGeom>
          <a:noFill/>
          <a:ln/>
        </p:spPr>
        <p:txBody>
          <a:bodyPr wrap="square" lIns="0" tIns="0" rIns="0" bIns="0" rtlCol="0" anchor="t"/>
          <a:lstStyle/>
          <a:p>
            <a:pPr indent="0" marL="0">
              <a:buNone/>
            </a:pPr>
            <a:r>
              <a:rPr lang="en-US" sz="1600" b="1" dirty="0">
                <a:solidFill>
                  <a:srgbClr val="10261F"/>
                </a:solidFill>
                <a:latin typeface="Calibri" pitchFamily="34" charset="0"/>
                <a:ea typeface="Calibri" pitchFamily="34" charset="-122"/>
                <a:cs typeface="Calibri" pitchFamily="34" charset="-120"/>
              </a:rPr>
              <a:t>test accuracy, one split</a:t>
            </a:r>
            <a:endParaRPr lang="en-US" sz="1600" dirty="0"/>
          </a:p>
        </p:txBody>
      </p:sp>
      <p:sp>
        <p:nvSpPr>
          <p:cNvPr id="20" name="Text 18"/>
          <p:cNvSpPr txBox="1"/>
          <p:nvPr/>
        </p:nvSpPr>
        <p:spPr>
          <a:xfrm>
            <a:off x="8321040" y="4480560"/>
            <a:ext cx="3017520" cy="1097280"/>
          </a:xfrm>
          <a:prstGeom prst="rect">
            <a:avLst/>
          </a:prstGeom>
          <a:noFill/>
          <a:ln/>
        </p:spPr>
        <p:txBody>
          <a:bodyPr wrap="square" lIns="0" tIns="0" rIns="0" bIns="0" rtlCol="0" anchor="t"/>
          <a:lstStyle/>
          <a:p>
            <a:pPr indent="0" marL="0">
              <a:buNone/>
            </a:pPr>
            <a:r>
              <a:rPr lang="en-US" sz="1400" dirty="0">
                <a:solidFill>
                  <a:srgbClr val="5C6B64"/>
                </a:solidFill>
                <a:latin typeface="Calibri" pitchFamily="34" charset="0"/>
                <a:ea typeface="Calibri" pitchFamily="34" charset="-122"/>
                <a:cs typeface="Calibri" pitchFamily="34" charset="-120"/>
              </a:rPr>
              <a:t>inside the cross-validation range, so not a lucky split</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06</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5C6B64"/>
                </a:solidFill>
                <a:latin typeface="Calibri" pitchFamily="34" charset="0"/>
                <a:ea typeface="Calibri" pitchFamily="34" charset="-122"/>
                <a:cs typeface="Calibri" pitchFamily="34" charset="-120"/>
              </a:rPr>
              <a:t>ERROR ANALYSIS</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10261F"/>
                </a:solidFill>
                <a:latin typeface="Cambria" pitchFamily="34" charset="0"/>
                <a:ea typeface="Cambria" pitchFamily="34" charset="-122"/>
                <a:cs typeface="Cambria" pitchFamily="34" charset="-120"/>
              </a:rPr>
              <a:t>Errors fall between neighbouring legal areas</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2F7A5F"/>
                </a:solidFill>
                <a:latin typeface="Calibri" pitchFamily="34" charset="0"/>
                <a:ea typeface="Calibri" pitchFamily="34" charset="-122"/>
                <a:cs typeface="Calibri" pitchFamily="34" charset="-120"/>
              </a:rPr>
              <a:t>Most of the 228 mistakes (out of 1,250 test opinions) are between legally adjacent areas.</a:t>
            </a:r>
            <a:endParaRPr lang="en-US" sz="1600" dirty="0"/>
          </a:p>
        </p:txBody>
      </p:sp>
      <p:sp>
        <p:nvSpPr>
          <p:cNvPr id="6" name="Matrix card"/>
          <p:cNvSpPr/>
          <p:nvPr/>
        </p:nvSpPr>
        <p:spPr>
          <a:xfrm>
            <a:off x="640080" y="1737360"/>
            <a:ext cx="4937760" cy="4434840"/>
          </a:xfrm>
          <a:prstGeom prst="roundRect">
            <a:avLst>
              <a:gd name="adj" fmla="val 2062"/>
            </a:avLst>
          </a:prstGeom>
          <a:solidFill>
            <a:srgbClr val="FFFFFF"/>
          </a:solidFill>
          <a:ln w="12700">
            <a:solidFill>
              <a:srgbClr val="D5DED8"/>
            </a:solidFill>
            <a:prstDash val="solid"/>
          </a:ln>
          <a:effectLst>
            <a:outerShdw sx="100000" sy="100000" kx="0" ky="0" algn="bl" rotWithShape="0" blurRad="127000" dist="25400" dir="5400000">
              <a:srgbClr val="10261F">
                <a:alpha val="12000"/>
              </a:srgbClr>
            </a:outerShdw>
          </a:effectLst>
        </p:spPr>
      </p:sp>
      <p:pic>
        <p:nvPicPr>
          <p:cNvPr id="7" name="Image 0" descr="Normalized confusion matrix on the test set">    </p:cNvPr>
          <p:cNvPicPr>
            <a:picLocks noChangeAspect="1"/>
          </p:cNvPicPr>
          <p:nvPr/>
        </p:nvPicPr>
        <p:blipFill>
          <a:blip r:embed="rId1"/>
          <a:stretch>
            <a:fillRect/>
          </a:stretch>
        </p:blipFill>
        <p:spPr>
          <a:xfrm>
            <a:off x="822960" y="1828800"/>
            <a:ext cx="4572000" cy="3739896"/>
          </a:xfrm>
          <a:prstGeom prst="rect">
            <a:avLst/>
          </a:prstGeom>
        </p:spPr>
      </p:pic>
      <p:sp>
        <p:nvSpPr>
          <p:cNvPr id="8" name="Text 5"/>
          <p:cNvSpPr txBox="1"/>
          <p:nvPr/>
        </p:nvSpPr>
        <p:spPr>
          <a:xfrm>
            <a:off x="822960" y="5669280"/>
            <a:ext cx="4572000" cy="320040"/>
          </a:xfrm>
          <a:prstGeom prst="rect">
            <a:avLst/>
          </a:prstGeom>
          <a:noFill/>
          <a:ln/>
        </p:spPr>
        <p:txBody>
          <a:bodyPr wrap="square" lIns="0" tIns="0" rIns="0" bIns="0" rtlCol="0" anchor="ctr"/>
          <a:lstStyle/>
          <a:p>
            <a:pPr indent="0" marL="0">
              <a:buNone/>
            </a:pPr>
            <a:r>
              <a:rPr lang="en-US" sz="1100" i="1" dirty="0">
                <a:solidFill>
                  <a:srgbClr val="5C6B64"/>
                </a:solidFill>
                <a:latin typeface="Calibri" pitchFamily="34" charset="0"/>
                <a:ea typeface="Calibri" pitchFamily="34" charset="-122"/>
                <a:cs typeface="Calibri" pitchFamily="34" charset="-120"/>
              </a:rPr>
              <a:t>Normalized confusion matrix, test set</a:t>
            </a:r>
            <a:endParaRPr lang="en-US" sz="1100" dirty="0"/>
          </a:p>
        </p:txBody>
      </p:sp>
      <p:sp>
        <p:nvSpPr>
          <p:cNvPr id="9" name="Tag Strongest"/>
          <p:cNvSpPr/>
          <p:nvPr/>
        </p:nvSpPr>
        <p:spPr>
          <a:xfrm>
            <a:off x="5943600" y="1737360"/>
            <a:ext cx="1417320" cy="777240"/>
          </a:xfrm>
          <a:prstGeom prst="roundRect">
            <a:avLst>
              <a:gd name="adj" fmla="val 9412"/>
            </a:avLst>
          </a:prstGeom>
          <a:solidFill>
            <a:srgbClr val="2F7A5F"/>
          </a:solidFill>
          <a:ln w="12700">
            <a:solidFill>
              <a:srgbClr val="2F7A5F"/>
            </a:solidFill>
            <a:prstDash val="solid"/>
          </a:ln>
        </p:spPr>
      </p:sp>
      <p:sp>
        <p:nvSpPr>
          <p:cNvPr id="10" name="Text 7"/>
          <p:cNvSpPr txBox="1"/>
          <p:nvPr/>
        </p:nvSpPr>
        <p:spPr>
          <a:xfrm>
            <a:off x="5943600" y="1737360"/>
            <a:ext cx="141732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Strongest</a:t>
            </a:r>
            <a:endParaRPr lang="en-US" sz="1400" dirty="0"/>
          </a:p>
        </p:txBody>
      </p:sp>
      <p:sp>
        <p:nvSpPr>
          <p:cNvPr id="11" name="Text 8"/>
          <p:cNvSpPr txBox="1"/>
          <p:nvPr/>
        </p:nvSpPr>
        <p:spPr>
          <a:xfrm>
            <a:off x="7543800" y="1737360"/>
            <a:ext cx="4023360" cy="777240"/>
          </a:xfrm>
          <a:prstGeom prst="rect">
            <a:avLst/>
          </a:prstGeom>
          <a:noFill/>
          <a:ln/>
        </p:spPr>
        <p:txBody>
          <a:bodyPr wrap="square" lIns="0" tIns="0" rIns="0" bIns="0" rtlCol="0" anchor="ctr"/>
          <a:lstStyle/>
          <a:p>
            <a:pPr indent="0" marL="0">
              <a:buNone/>
            </a:pPr>
            <a:r>
              <a:rPr lang="en-US" sz="1400" dirty="0">
                <a:solidFill>
                  <a:srgbClr val="10261F"/>
                </a:solidFill>
                <a:latin typeface="Calibri" pitchFamily="34" charset="0"/>
                <a:ea typeface="Calibri" pitchFamily="34" charset="-122"/>
                <a:cs typeface="Calibri" pitchFamily="34" charset="-120"/>
              </a:rPr>
              <a:t>Criminal Procedure F1 0.89, Federal Taxation 0.88, Unions 0.86, Civil Rights and First Amendment 0.84</a:t>
            </a:r>
            <a:endParaRPr lang="en-US" sz="1400" dirty="0"/>
          </a:p>
        </p:txBody>
      </p:sp>
      <p:sp>
        <p:nvSpPr>
          <p:cNvPr id="12" name="Tag Weakest"/>
          <p:cNvSpPr/>
          <p:nvPr/>
        </p:nvSpPr>
        <p:spPr>
          <a:xfrm>
            <a:off x="5943600" y="2834640"/>
            <a:ext cx="1417320" cy="777240"/>
          </a:xfrm>
          <a:prstGeom prst="roundRect">
            <a:avLst>
              <a:gd name="adj" fmla="val 9412"/>
            </a:avLst>
          </a:prstGeom>
          <a:solidFill>
            <a:srgbClr val="D9644A"/>
          </a:solidFill>
          <a:ln w="12700">
            <a:solidFill>
              <a:srgbClr val="D9644A"/>
            </a:solidFill>
            <a:prstDash val="solid"/>
          </a:ln>
        </p:spPr>
      </p:sp>
      <p:sp>
        <p:nvSpPr>
          <p:cNvPr id="13" name="Text 10"/>
          <p:cNvSpPr txBox="1"/>
          <p:nvPr/>
        </p:nvSpPr>
        <p:spPr>
          <a:xfrm>
            <a:off x="5943600" y="2834640"/>
            <a:ext cx="141732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Weakest</a:t>
            </a:r>
            <a:endParaRPr lang="en-US" sz="1400" dirty="0"/>
          </a:p>
        </p:txBody>
      </p:sp>
      <p:sp>
        <p:nvSpPr>
          <p:cNvPr id="14" name="Text 11"/>
          <p:cNvSpPr txBox="1"/>
          <p:nvPr/>
        </p:nvSpPr>
        <p:spPr>
          <a:xfrm>
            <a:off x="7543800" y="2834640"/>
            <a:ext cx="4023360" cy="777240"/>
          </a:xfrm>
          <a:prstGeom prst="rect">
            <a:avLst/>
          </a:prstGeom>
          <a:noFill/>
          <a:ln/>
        </p:spPr>
        <p:txBody>
          <a:bodyPr wrap="square" lIns="0" tIns="0" rIns="0" bIns="0" rtlCol="0" anchor="ctr"/>
          <a:lstStyle/>
          <a:p>
            <a:pPr indent="0" marL="0">
              <a:buNone/>
            </a:pPr>
            <a:r>
              <a:rPr lang="en-US" sz="1400" dirty="0">
                <a:solidFill>
                  <a:srgbClr val="10261F"/>
                </a:solidFill>
                <a:latin typeface="Calibri" pitchFamily="34" charset="0"/>
                <a:ea typeface="Calibri" pitchFamily="34" charset="-122"/>
                <a:cs typeface="Calibri" pitchFamily="34" charset="-120"/>
              </a:rPr>
              <a:t>Miscellaneous 0.40 (3 test documents), Due Process 0.61, Judicial Power 0.70, Privacy 0.71</a:t>
            </a:r>
            <a:endParaRPr lang="en-US" sz="1400" dirty="0"/>
          </a:p>
        </p:txBody>
      </p:sp>
      <p:sp>
        <p:nvSpPr>
          <p:cNvPr id="15" name="Tag Errors"/>
          <p:cNvSpPr/>
          <p:nvPr/>
        </p:nvSpPr>
        <p:spPr>
          <a:xfrm>
            <a:off x="5943600" y="3931920"/>
            <a:ext cx="1417320" cy="1051560"/>
          </a:xfrm>
          <a:prstGeom prst="roundRect">
            <a:avLst>
              <a:gd name="adj" fmla="val 6957"/>
            </a:avLst>
          </a:prstGeom>
          <a:solidFill>
            <a:srgbClr val="1D4034"/>
          </a:solidFill>
          <a:ln w="12700">
            <a:solidFill>
              <a:srgbClr val="1D4034"/>
            </a:solidFill>
            <a:prstDash val="solid"/>
          </a:ln>
        </p:spPr>
      </p:sp>
      <p:sp>
        <p:nvSpPr>
          <p:cNvPr id="16" name="Text 13"/>
          <p:cNvSpPr txBox="1"/>
          <p:nvPr/>
        </p:nvSpPr>
        <p:spPr>
          <a:xfrm>
            <a:off x="5943600" y="3931920"/>
            <a:ext cx="1417320" cy="1051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Errors</a:t>
            </a:r>
            <a:endParaRPr lang="en-US" sz="1400" dirty="0"/>
          </a:p>
        </p:txBody>
      </p:sp>
      <p:sp>
        <p:nvSpPr>
          <p:cNvPr id="17" name="Text 14"/>
          <p:cNvSpPr txBox="1"/>
          <p:nvPr/>
        </p:nvSpPr>
        <p:spPr>
          <a:xfrm>
            <a:off x="7543800" y="3931920"/>
            <a:ext cx="4023360" cy="1051560"/>
          </a:xfrm>
          <a:prstGeom prst="rect">
            <a:avLst/>
          </a:prstGeom>
          <a:noFill/>
          <a:ln/>
        </p:spPr>
        <p:txBody>
          <a:bodyPr wrap="square" lIns="0" tIns="0" rIns="0" bIns="0" rtlCol="0" anchor="ctr"/>
          <a:lstStyle/>
          <a:p>
            <a:pPr indent="0" marL="0">
              <a:buNone/>
            </a:pPr>
            <a:r>
              <a:rPr lang="en-US" sz="1400" dirty="0">
                <a:solidFill>
                  <a:srgbClr val="10261F"/>
                </a:solidFill>
                <a:latin typeface="Calibri" pitchFamily="34" charset="0"/>
                <a:ea typeface="Calibri" pitchFamily="34" charset="-122"/>
                <a:cs typeface="Calibri" pitchFamily="34" charset="-120"/>
              </a:rPr>
              <a:t>228 of 1,250 test opinions; Judicial Power to Civil Rights (16), Economic Activity and Judicial Power (14 each way)</a:t>
            </a:r>
            <a:endParaRPr lang="en-US" sz="1400" dirty="0"/>
          </a:p>
        </p:txBody>
      </p:sp>
      <p:sp>
        <p:nvSpPr>
          <p:cNvPr id="18" name="Tag Caveat"/>
          <p:cNvSpPr/>
          <p:nvPr/>
        </p:nvSpPr>
        <p:spPr>
          <a:xfrm>
            <a:off x="5943600" y="5303520"/>
            <a:ext cx="1417320" cy="868680"/>
          </a:xfrm>
          <a:prstGeom prst="roundRect">
            <a:avLst>
              <a:gd name="adj" fmla="val 8421"/>
            </a:avLst>
          </a:prstGeom>
          <a:solidFill>
            <a:srgbClr val="C9A24B"/>
          </a:solidFill>
          <a:ln w="12700">
            <a:solidFill>
              <a:srgbClr val="C9A24B"/>
            </a:solidFill>
            <a:prstDash val="solid"/>
          </a:ln>
        </p:spPr>
      </p:sp>
      <p:sp>
        <p:nvSpPr>
          <p:cNvPr id="19" name="Text 16"/>
          <p:cNvSpPr txBox="1"/>
          <p:nvPr/>
        </p:nvSpPr>
        <p:spPr>
          <a:xfrm>
            <a:off x="5943600" y="5303520"/>
            <a:ext cx="1417320" cy="868680"/>
          </a:xfrm>
          <a:prstGeom prst="rect">
            <a:avLst/>
          </a:prstGeom>
          <a:noFill/>
          <a:ln/>
        </p:spPr>
        <p:txBody>
          <a:bodyPr wrap="square" lIns="0" tIns="0" rIns="0" bIns="0" rtlCol="0" anchor="ctr"/>
          <a:lstStyle/>
          <a:p>
            <a:pPr algn="ctr" indent="0" marL="0">
              <a:buNone/>
            </a:pPr>
            <a:r>
              <a:rPr lang="en-US" sz="1400" b="1" dirty="0">
                <a:solidFill>
                  <a:srgbClr val="10261F"/>
                </a:solidFill>
                <a:latin typeface="Calibri" pitchFamily="34" charset="0"/>
                <a:ea typeface="Calibri" pitchFamily="34" charset="-122"/>
                <a:cs typeface="Calibri" pitchFamily="34" charset="-120"/>
              </a:rPr>
              <a:t>Caveat</a:t>
            </a:r>
            <a:endParaRPr lang="en-US" sz="1400" dirty="0"/>
          </a:p>
        </p:txBody>
      </p:sp>
      <p:sp>
        <p:nvSpPr>
          <p:cNvPr id="20" name="Text 17"/>
          <p:cNvSpPr txBox="1"/>
          <p:nvPr/>
        </p:nvSpPr>
        <p:spPr>
          <a:xfrm>
            <a:off x="7543800" y="5303520"/>
            <a:ext cx="4023360" cy="868680"/>
          </a:xfrm>
          <a:prstGeom prst="rect">
            <a:avLst/>
          </a:prstGeom>
          <a:noFill/>
          <a:ln/>
        </p:spPr>
        <p:txBody>
          <a:bodyPr wrap="square" lIns="0" tIns="0" rIns="0" bIns="0" rtlCol="0" anchor="ctr"/>
          <a:lstStyle/>
          <a:p>
            <a:pPr indent="0" marL="0">
              <a:buNone/>
            </a:pPr>
            <a:r>
              <a:rPr lang="en-US" sz="1400" dirty="0">
                <a:solidFill>
                  <a:srgbClr val="10261F"/>
                </a:solidFill>
                <a:latin typeface="Calibri" pitchFamily="34" charset="0"/>
                <a:ea typeface="Calibri" pitchFamily="34" charset="-122"/>
                <a:cs typeface="Calibri" pitchFamily="34" charset="-120"/>
              </a:rPr>
              <a:t>some top words are case names (bruton, garmon, chadha), so the model partly leans on case-specific vocabulary</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07</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A9C7B9"/>
                </a:solidFill>
                <a:latin typeface="Calibri" pitchFamily="34" charset="0"/>
                <a:ea typeface="Calibri" pitchFamily="34" charset="-122"/>
                <a:cs typeface="Calibri" pitchFamily="34" charset="-120"/>
              </a:rPr>
              <a:t>LIVE DEMO</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Streamlit demo: one hit, one miss</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F0DDA8"/>
                </a:solidFill>
                <a:latin typeface="Calibri" pitchFamily="34" charset="0"/>
                <a:ea typeface="Calibri" pitchFamily="34" charset="-122"/>
                <a:cs typeface="Calibri" pitchFamily="34" charset="-120"/>
              </a:rPr>
              <a:t>Paste an opinion, get the top 3 issue areas and the words that drove the prediction.</a:t>
            </a:r>
            <a:endParaRPr lang="en-US" sz="1600" dirty="0"/>
          </a:p>
        </p:txBody>
      </p:sp>
      <p:sp>
        <p:nvSpPr>
          <p:cNvPr id="6" name="Hit card"/>
          <p:cNvSpPr/>
          <p:nvPr/>
        </p:nvSpPr>
        <p:spPr>
          <a:xfrm>
            <a:off x="640080" y="1737360"/>
            <a:ext cx="6766560" cy="2148840"/>
          </a:xfrm>
          <a:prstGeom prst="roundRect">
            <a:avLst>
              <a:gd name="adj" fmla="val 4255"/>
            </a:avLst>
          </a:prstGeom>
          <a:solidFill>
            <a:srgbClr val="1D4034"/>
          </a:solidFill>
          <a:ln w="12700">
            <a:solidFill>
              <a:srgbClr val="1D4034"/>
            </a:solidFill>
            <a:prstDash val="solid"/>
          </a:ln>
        </p:spPr>
      </p:sp>
      <p:sp>
        <p:nvSpPr>
          <p:cNvPr id="7" name="Text 5"/>
          <p:cNvSpPr txBox="1"/>
          <p:nvPr/>
        </p:nvSpPr>
        <p:spPr>
          <a:xfrm>
            <a:off x="868680" y="1828800"/>
            <a:ext cx="731520" cy="274320"/>
          </a:xfrm>
          <a:prstGeom prst="rect">
            <a:avLst/>
          </a:prstGeom>
          <a:noFill/>
          <a:ln/>
        </p:spPr>
        <p:txBody>
          <a:bodyPr wrap="square" lIns="0" tIns="0" rIns="0" bIns="0" rtlCol="0" anchor="ctr"/>
          <a:lstStyle/>
          <a:p>
            <a:pPr indent="0" marL="0">
              <a:buNone/>
            </a:pPr>
            <a:r>
              <a:rPr lang="en-US" sz="1200" b="1" spc="400" kern="0" dirty="0">
                <a:solidFill>
                  <a:srgbClr val="7FB59C"/>
                </a:solidFill>
                <a:latin typeface="Calibri" pitchFamily="34" charset="0"/>
                <a:ea typeface="Calibri" pitchFamily="34" charset="-122"/>
                <a:cs typeface="Calibri" pitchFamily="34" charset="-120"/>
              </a:rPr>
              <a:t>HIT</a:t>
            </a:r>
            <a:endParaRPr lang="en-US" sz="1200" dirty="0"/>
          </a:p>
        </p:txBody>
      </p:sp>
      <p:pic>
        <p:nvPicPr>
          <p:cNvPr id="8" name="Image 0" descr="Demo screenshot: labor clause predicted as Unions">    </p:cNvPr>
          <p:cNvPicPr>
            <a:picLocks noChangeAspect="1"/>
          </p:cNvPicPr>
          <p:nvPr/>
        </p:nvPicPr>
        <p:blipFill>
          <a:blip r:embed="rId1"/>
          <a:stretch>
            <a:fillRect/>
          </a:stretch>
        </p:blipFill>
        <p:spPr>
          <a:xfrm>
            <a:off x="868680" y="2148840"/>
            <a:ext cx="6309360" cy="976204"/>
          </a:xfrm>
          <a:prstGeom prst="rect">
            <a:avLst/>
          </a:prstGeom>
        </p:spPr>
      </p:pic>
      <p:sp>
        <p:nvSpPr>
          <p:cNvPr id="9" name="Text 6"/>
          <p:cNvSpPr txBox="1"/>
          <p:nvPr/>
        </p:nvSpPr>
        <p:spPr>
          <a:xfrm>
            <a:off x="868680" y="3246120"/>
            <a:ext cx="6309360" cy="502920"/>
          </a:xfrm>
          <a:prstGeom prst="rect">
            <a:avLst/>
          </a:prstGeom>
          <a:noFill/>
          <a:ln/>
        </p:spPr>
        <p:txBody>
          <a:bodyPr wrap="square" lIns="0" tIns="0" rIns="0" bIns="0" rtlCol="0" anchor="t"/>
          <a:lstStyle/>
          <a:p>
            <a:pPr indent="0" marL="0">
              <a:buNone/>
            </a:pPr>
            <a:r>
              <a:rPr lang="en-US" sz="1200" i="1" dirty="0">
                <a:solidFill>
                  <a:srgbClr val="C9DBD2"/>
                </a:solidFill>
                <a:latin typeface="Calibri" pitchFamily="34" charset="0"/>
                <a:ea typeface="Calibri" pitchFamily="34" charset="-122"/>
                <a:cs typeface="Calibri" pitchFamily="34" charset="-120"/>
              </a:rPr>
              <a:t>Labor-contract clause: predicted Unions (score 0.448, runner-up 0.068).</a:t>
            </a:r>
            <a:endParaRPr lang="en-US" sz="1200" dirty="0"/>
          </a:p>
        </p:txBody>
      </p:sp>
      <p:sp>
        <p:nvSpPr>
          <p:cNvPr id="10" name="Miss card"/>
          <p:cNvSpPr/>
          <p:nvPr/>
        </p:nvSpPr>
        <p:spPr>
          <a:xfrm>
            <a:off x="640080" y="4114800"/>
            <a:ext cx="6766560" cy="2240280"/>
          </a:xfrm>
          <a:prstGeom prst="roundRect">
            <a:avLst>
              <a:gd name="adj" fmla="val 4082"/>
            </a:avLst>
          </a:prstGeom>
          <a:solidFill>
            <a:srgbClr val="1D4034"/>
          </a:solidFill>
          <a:ln w="12700">
            <a:solidFill>
              <a:srgbClr val="1D4034"/>
            </a:solidFill>
            <a:prstDash val="solid"/>
          </a:ln>
        </p:spPr>
      </p:sp>
      <p:sp>
        <p:nvSpPr>
          <p:cNvPr id="11" name="Text 8"/>
          <p:cNvSpPr txBox="1"/>
          <p:nvPr/>
        </p:nvSpPr>
        <p:spPr>
          <a:xfrm>
            <a:off x="868680" y="4206240"/>
            <a:ext cx="731520" cy="274320"/>
          </a:xfrm>
          <a:prstGeom prst="rect">
            <a:avLst/>
          </a:prstGeom>
          <a:noFill/>
          <a:ln/>
        </p:spPr>
        <p:txBody>
          <a:bodyPr wrap="square" lIns="0" tIns="0" rIns="0" bIns="0" rtlCol="0" anchor="ctr"/>
          <a:lstStyle/>
          <a:p>
            <a:pPr indent="0" marL="0">
              <a:buNone/>
            </a:pPr>
            <a:r>
              <a:rPr lang="en-US" sz="1200" b="1" spc="400" kern="0" dirty="0">
                <a:solidFill>
                  <a:srgbClr val="D9644A"/>
                </a:solidFill>
                <a:latin typeface="Calibri" pitchFamily="34" charset="0"/>
                <a:ea typeface="Calibri" pitchFamily="34" charset="-122"/>
                <a:cs typeface="Calibri" pitchFamily="34" charset="-120"/>
              </a:rPr>
              <a:t>MISS</a:t>
            </a:r>
            <a:endParaRPr lang="en-US" sz="1200" dirty="0"/>
          </a:p>
        </p:txBody>
      </p:sp>
      <p:pic>
        <p:nvPicPr>
          <p:cNvPr id="12" name="Image 1" descr="Demo screenshot: held-out sample 2 predicted as Criminal Procedure">    </p:cNvPr>
          <p:cNvPicPr>
            <a:picLocks noChangeAspect="1"/>
          </p:cNvPicPr>
          <p:nvPr/>
        </p:nvPicPr>
        <p:blipFill>
          <a:blip r:embed="rId2"/>
          <a:stretch>
            <a:fillRect/>
          </a:stretch>
        </p:blipFill>
        <p:spPr>
          <a:xfrm>
            <a:off x="868680" y="4526280"/>
            <a:ext cx="6309360" cy="1157911"/>
          </a:xfrm>
          <a:prstGeom prst="rect">
            <a:avLst/>
          </a:prstGeom>
        </p:spPr>
      </p:pic>
      <p:sp>
        <p:nvSpPr>
          <p:cNvPr id="13" name="Text 9"/>
          <p:cNvSpPr txBox="1"/>
          <p:nvPr/>
        </p:nvSpPr>
        <p:spPr>
          <a:xfrm>
            <a:off x="868680" y="5806440"/>
            <a:ext cx="6309360" cy="457200"/>
          </a:xfrm>
          <a:prstGeom prst="rect">
            <a:avLst/>
          </a:prstGeom>
          <a:noFill/>
          <a:ln/>
        </p:spPr>
        <p:txBody>
          <a:bodyPr wrap="square" lIns="0" tIns="0" rIns="0" bIns="0" rtlCol="0" anchor="t"/>
          <a:lstStyle/>
          <a:p>
            <a:pPr indent="0" marL="0">
              <a:buNone/>
            </a:pPr>
            <a:r>
              <a:rPr lang="en-US" sz="1200" i="1" dirty="0">
                <a:solidFill>
                  <a:srgbClr val="C9DBD2"/>
                </a:solidFill>
                <a:latin typeface="Calibri" pitchFamily="34" charset="0"/>
                <a:ea typeface="Calibri" pitchFamily="34" charset="-122"/>
                <a:cs typeface="Calibri" pitchFamily="34" charset="-120"/>
              </a:rPr>
              <a:t>Held-out sample 2 (true label Civil Rights): predicted Criminal Procedure (0.326, runner-up Attorneys 0.071).</a:t>
            </a:r>
            <a:endParaRPr lang="en-US" sz="1200" dirty="0"/>
          </a:p>
        </p:txBody>
      </p:sp>
      <p:sp>
        <p:nvSpPr>
          <p:cNvPr id="14" name="Text 10"/>
          <p:cNvSpPr txBox="1"/>
          <p:nvPr/>
        </p:nvSpPr>
        <p:spPr>
          <a:xfrm>
            <a:off x="7772400" y="1737360"/>
            <a:ext cx="384048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Why the miss</a:t>
            </a:r>
            <a:endParaRPr lang="en-US" sz="1800" dirty="0"/>
          </a:p>
        </p:txBody>
      </p:sp>
      <p:sp>
        <p:nvSpPr>
          <p:cNvPr id="15" name="Text 11"/>
          <p:cNvSpPr txBox="1"/>
          <p:nvPr/>
        </p:nvSpPr>
        <p:spPr>
          <a:xfrm>
            <a:off x="7772400" y="2121408"/>
            <a:ext cx="3840480" cy="9601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It is a right-to-counsel trial: its vocabulary (trial, jury, counsel) points to Criminal Procedure</a:t>
            </a:r>
            <a:endParaRPr lang="en-US" sz="1400" dirty="0"/>
          </a:p>
        </p:txBody>
      </p:sp>
      <p:sp>
        <p:nvSpPr>
          <p:cNvPr id="16" name="Text 12"/>
          <p:cNvSpPr txBox="1"/>
          <p:nvPr/>
        </p:nvSpPr>
        <p:spPr>
          <a:xfrm>
            <a:off x="7772400" y="3246120"/>
            <a:ext cx="384048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Why it explains itself</a:t>
            </a:r>
            <a:endParaRPr lang="en-US" sz="1800" dirty="0"/>
          </a:p>
        </p:txBody>
      </p:sp>
      <p:sp>
        <p:nvSpPr>
          <p:cNvPr id="17" name="Text 13"/>
          <p:cNvSpPr txBox="1"/>
          <p:nvPr/>
        </p:nvSpPr>
        <p:spPr>
          <a:xfrm>
            <a:off x="7772400" y="3630168"/>
            <a:ext cx="3840480" cy="9601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 linear model gives every word a weight per class, so the app can list the words that drove a prediction</a:t>
            </a:r>
            <a:endParaRPr lang="en-US" sz="1400" dirty="0"/>
          </a:p>
        </p:txBody>
      </p:sp>
      <p:sp>
        <p:nvSpPr>
          <p:cNvPr id="18" name="Text 14"/>
          <p:cNvSpPr txBox="1"/>
          <p:nvPr/>
        </p:nvSpPr>
        <p:spPr>
          <a:xfrm>
            <a:off x="7772400" y="4754880"/>
            <a:ext cx="384048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Read scores with care</a:t>
            </a:r>
            <a:endParaRPr lang="en-US" sz="1800" dirty="0"/>
          </a:p>
        </p:txBody>
      </p:sp>
      <p:sp>
        <p:nvSpPr>
          <p:cNvPr id="19" name="Text 15"/>
          <p:cNvSpPr txBox="1"/>
          <p:nvPr/>
        </p:nvSpPr>
        <p:spPr>
          <a:xfrm>
            <a:off x="7772400" y="5138928"/>
            <a:ext cx="3840480" cy="9601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Scores are a softmax of SVM margins: they rank classes, they are not calibrated probabilities</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08</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5C6B64"/>
                </a:solidFill>
                <a:latin typeface="Calibri" pitchFamily="34" charset="0"/>
                <a:ea typeface="Calibri" pitchFamily="34" charset="-122"/>
                <a:cs typeface="Calibri" pitchFamily="34" charset="-120"/>
              </a:rPr>
              <a:t>SIMILARITY SEARCH</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10261F"/>
                </a:solidFill>
                <a:latin typeface="Cambria" pitchFamily="34" charset="0"/>
                <a:ea typeface="Cambria" pitchFamily="34" charset="-122"/>
                <a:cs typeface="Cambria" pitchFamily="34" charset="-120"/>
              </a:rPr>
              <a:t>Finding related opinions: Roe v. Wade (1973)</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2F7A5F"/>
                </a:solidFill>
                <a:latin typeface="Calibri" pitchFamily="34" charset="0"/>
                <a:ea typeface="Calibri" pitchFamily="34" charset="-122"/>
                <a:cs typeface="Calibri" pitchFamily="34" charset="-120"/>
              </a:rPr>
              <a:t>Which past opinions read most like Roe v. Wade? A higher score means more alike (max 1).</a:t>
            </a:r>
            <a:endParaRPr lang="en-US" sz="1600" dirty="0"/>
          </a:p>
        </p:txBody>
      </p:sp>
      <p:sp>
        <p:nvSpPr>
          <p:cNvPr id="6" name="Text 4"/>
          <p:cNvSpPr txBox="1"/>
          <p:nvPr/>
        </p:nvSpPr>
        <p:spPr>
          <a:xfrm>
            <a:off x="640080" y="1691640"/>
            <a:ext cx="5303520" cy="411480"/>
          </a:xfrm>
          <a:prstGeom prst="rect">
            <a:avLst/>
          </a:prstGeom>
          <a:noFill/>
          <a:ln/>
        </p:spPr>
        <p:txBody>
          <a:bodyPr wrap="square" lIns="0" tIns="0" rIns="0" bIns="0" rtlCol="0" anchor="ctr"/>
          <a:lstStyle/>
          <a:p>
            <a:pPr indent="0" marL="0">
              <a:buNone/>
            </a:pPr>
            <a:r>
              <a:rPr lang="en-US" sz="2000" b="1" dirty="0">
                <a:solidFill>
                  <a:srgbClr val="1D4034"/>
                </a:solidFill>
                <a:latin typeface="Cambria" pitchFamily="34" charset="0"/>
                <a:ea typeface="Cambria" pitchFamily="34" charset="-122"/>
                <a:cs typeface="Cambria" pitchFamily="34" charset="-120"/>
              </a:rPr>
              <a:t>TF-IDF cosine similarity</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5303520" cy="914400"/>
        </p:xfrm>
        <a:graphic>
          <a:graphicData uri="http://schemas.openxmlformats.org/drawingml/2006/table">
            <a:tbl>
              <a:tblPr/>
              <a:tblGrid>
                <a:gridCol w="2423160"/>
                <a:gridCol w="640080"/>
                <a:gridCol w="1417320"/>
                <a:gridCol w="8229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Opinion</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1D4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Year</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1D4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Issue area</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1D4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Sim.</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1D4034"/>
                    </a:solidFill>
                  </a:tcPr>
                </a:tc>
              </a:tr>
              <a:tr h="475488">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Doe v. Bolton</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1973</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0.404</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r>
              <a:tr h="475488">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Planned Parenthood v. Danforth</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1976</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0.338</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Connecticut v. Menillo</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1975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0.302</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r>
              <a:tr h="475488">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City of Akron v. Akron Center</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1983</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0.285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Singleton v. (Bureau of Medical Services)</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1976</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Judicial Power</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0.284</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r>
            </a:tbl>
          </a:graphicData>
        </a:graphic>
      </p:graphicFrame>
      <p:sp>
        <p:nvSpPr>
          <p:cNvPr id="8" name="Text 5"/>
          <p:cNvSpPr txBox="1"/>
          <p:nvPr/>
        </p:nvSpPr>
        <p:spPr>
          <a:xfrm>
            <a:off x="6263640" y="1691640"/>
            <a:ext cx="5303520" cy="411480"/>
          </a:xfrm>
          <a:prstGeom prst="rect">
            <a:avLst/>
          </a:prstGeom>
          <a:noFill/>
          <a:ln/>
        </p:spPr>
        <p:txBody>
          <a:bodyPr wrap="square" lIns="0" tIns="0" rIns="0" bIns="0" rtlCol="0" anchor="ctr"/>
          <a:lstStyle/>
          <a:p>
            <a:pPr indent="0" marL="0">
              <a:buNone/>
            </a:pPr>
            <a:r>
              <a:rPr lang="en-US" sz="2000" b="1" dirty="0">
                <a:solidFill>
                  <a:srgbClr val="1D4034"/>
                </a:solidFill>
                <a:latin typeface="Cambria" pitchFamily="34" charset="0"/>
                <a:ea typeface="Cambria" pitchFamily="34" charset="-122"/>
                <a:cs typeface="Cambria" pitchFamily="34" charset="-120"/>
              </a:rPr>
              <a:t>Doc2Vec cosine similarity</a:t>
            </a:r>
            <a:endParaRPr lang="en-US" sz="20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263640" y="2194560"/>
          <a:ext cx="5303520" cy="914400"/>
        </p:xfrm>
        <a:graphic>
          <a:graphicData uri="http://schemas.openxmlformats.org/drawingml/2006/table">
            <a:tbl>
              <a:tblPr/>
              <a:tblGrid>
                <a:gridCol w="2423160"/>
                <a:gridCol w="640080"/>
                <a:gridCol w="1417320"/>
                <a:gridCol w="8229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Opinion</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1D4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Year</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1D4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Issue area</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1D4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Sim.</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1D4034"/>
                    </a:solidFill>
                  </a:tcPr>
                </a:tc>
              </a:tr>
              <a:tr h="475488">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Doe v. Bolton</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1973</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0.718</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r>
              <a:tr h="475488">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Poe v. Ullman</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1961</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Judicial Power</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0.643</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Planned Parenthood v. Danforth</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1976</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0.627</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r>
              <a:tr h="475488">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Bowers v. Hardwick</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1986</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0.601</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H. L. v. Matheson</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1981</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dirty="0">
                          <a:solidFill>
                            <a:srgbClr val="10261F"/>
                          </a:solidFill>
                          <a:latin typeface="Calibri" pitchFamily="34" charset="0"/>
                          <a:ea typeface="Calibri" pitchFamily="34" charset="-122"/>
                          <a:cs typeface="Calibri" pitchFamily="34" charset="-120"/>
                        </a:rPr>
                        <a:t>Privacy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c>
                  <a:txBody>
                    <a:bodyPr/>
                    <a:lstStyle/>
                    <a:p>
                      <a:pPr indent="0" marL="0">
                        <a:buNone/>
                      </a:pPr>
                      <a:r>
                        <a:rPr lang="en-US" sz="1300" b="1" dirty="0">
                          <a:solidFill>
                            <a:srgbClr val="10261F"/>
                          </a:solidFill>
                          <a:latin typeface="Calibri" pitchFamily="34" charset="0"/>
                          <a:ea typeface="Calibri" pitchFamily="34" charset="-122"/>
                          <a:cs typeface="Calibri" pitchFamily="34" charset="-120"/>
                        </a:rPr>
                        <a:t>0.593</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F"/>
                    </a:solidFill>
                  </a:tcPr>
                </a:tc>
              </a:tr>
            </a:tbl>
          </a:graphicData>
        </a:graphic>
      </p:graphicFrame>
      <p:sp>
        <p:nvSpPr>
          <p:cNvPr id="10" name="Takeaway"/>
          <p:cNvSpPr/>
          <p:nvPr/>
        </p:nvSpPr>
        <p:spPr>
          <a:xfrm>
            <a:off x="640080" y="5257800"/>
            <a:ext cx="10927080" cy="777240"/>
          </a:xfrm>
          <a:prstGeom prst="roundRect">
            <a:avLst>
              <a:gd name="adj" fmla="val 11765"/>
            </a:avLst>
          </a:prstGeom>
          <a:solidFill>
            <a:srgbClr val="1D4034"/>
          </a:solidFill>
          <a:ln w="12700">
            <a:solidFill>
              <a:srgbClr val="1D4034"/>
            </a:solidFill>
            <a:prstDash val="solid"/>
          </a:ln>
        </p:spPr>
      </p:sp>
      <p:sp>
        <p:nvSpPr>
          <p:cNvPr id="11" name="Text 7"/>
          <p:cNvSpPr txBox="1"/>
          <p:nvPr/>
        </p:nvSpPr>
        <p:spPr>
          <a:xfrm>
            <a:off x="914400" y="5257800"/>
            <a:ext cx="10424160" cy="777240"/>
          </a:xfrm>
          <a:prstGeom prst="rect">
            <a:avLst/>
          </a:prstGeom>
          <a:noFill/>
          <a:ln/>
        </p:spPr>
        <p:txBody>
          <a:bodyPr wrap="square" lIns="0" tIns="0" rIns="0" bIns="0" rtlCol="0" anchor="ctr"/>
          <a:lstStyle/>
          <a:p>
            <a:pPr indent="0" marL="0">
              <a:buNone/>
            </a:pPr>
            <a:r>
              <a:rPr lang="en-US" sz="1400" b="1" dirty="0">
                <a:solidFill>
                  <a:srgbClr val="C9A24B"/>
                </a:solidFill>
                <a:latin typeface="Calibri" pitchFamily="34" charset="0"/>
                <a:ea typeface="Calibri" pitchFamily="34" charset="-122"/>
                <a:cs typeface="Calibri" pitchFamily="34" charset="-120"/>
              </a:rPr>
              <a:t>Roe v. Wade is labeled Privacy. </a:t>
            </a:r>
            <a:pPr indent="0" marL="0">
              <a:buNone/>
            </a:pPr>
            <a:r>
              <a:rPr lang="en-US" sz="1400" dirty="0">
                <a:solidFill>
                  <a:srgbClr val="FFFFFF"/>
                </a:solidFill>
                <a:latin typeface="Calibri" pitchFamily="34" charset="0"/>
                <a:ea typeface="Calibri" pitchFamily="34" charset="-122"/>
                <a:cs typeface="Calibri" pitchFamily="34" charset="-120"/>
              </a:rPr>
              <a:t>Doe v. Bolton and Planned Parenthood v. Danforth appear in both lists, as in the reference report's similarity search.</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412480" y="-1097280"/>
            <a:ext cx="4572000" cy="6400800"/>
          </a:xfrm>
          <a:prstGeom prst="rect">
            <a:avLst/>
          </a:prstGeom>
          <a:noFill/>
          <a:ln/>
        </p:spPr>
        <p:txBody>
          <a:bodyPr wrap="square" lIns="0" tIns="0" rIns="0" bIns="0" rtlCol="0" anchor="ctr"/>
          <a:lstStyle/>
          <a:p>
            <a:pPr algn="ctr" indent="0" marL="0">
              <a:buNone/>
            </a:pPr>
            <a:r>
              <a:rPr lang="en-US" sz="34000" dirty="0">
                <a:solidFill>
                  <a:srgbClr val="1D4034"/>
                </a:solidFill>
                <a:latin typeface="Cambria" pitchFamily="34" charset="0"/>
                <a:ea typeface="Cambria" pitchFamily="34" charset="-122"/>
                <a:cs typeface="Cambria" pitchFamily="34" charset="-120"/>
              </a:rPr>
              <a:t>§</a:t>
            </a:r>
            <a:endParaRPr lang="en-US" sz="34000" dirty="0"/>
          </a:p>
        </p:txBody>
      </p:sp>
      <p:sp>
        <p:nvSpPr>
          <p:cNvPr id="3" name="Text 1"/>
          <p:cNvSpPr txBox="1"/>
          <p:nvPr/>
        </p:nvSpPr>
        <p:spPr>
          <a:xfrm>
            <a:off x="822960" y="54864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Conclusions and next steps</a:t>
            </a:r>
            <a:endParaRPr lang="en-US" sz="4000" dirty="0"/>
          </a:p>
        </p:txBody>
      </p:sp>
      <p:sp>
        <p:nvSpPr>
          <p:cNvPr id="4" name="Text 2"/>
          <p:cNvSpPr txBox="1"/>
          <p:nvPr/>
        </p:nvSpPr>
        <p:spPr>
          <a:xfrm>
            <a:off x="822960" y="1645920"/>
            <a:ext cx="5029200" cy="320040"/>
          </a:xfrm>
          <a:prstGeom prst="rect">
            <a:avLst/>
          </a:prstGeom>
          <a:noFill/>
          <a:ln/>
        </p:spPr>
        <p:txBody>
          <a:bodyPr wrap="square" lIns="0" tIns="0" rIns="0" bIns="0" rtlCol="0" anchor="ctr"/>
          <a:lstStyle/>
          <a:p>
            <a:pPr indent="0" marL="0">
              <a:buNone/>
            </a:pPr>
            <a:r>
              <a:rPr lang="en-US" sz="1200" b="1" spc="400" kern="0" dirty="0">
                <a:solidFill>
                  <a:srgbClr val="C9A24B"/>
                </a:solidFill>
                <a:latin typeface="Calibri" pitchFamily="34" charset="0"/>
                <a:ea typeface="Calibri" pitchFamily="34" charset="-122"/>
                <a:cs typeface="Calibri" pitchFamily="34" charset="-120"/>
              </a:rPr>
              <a:t>WHAT WE FOUND</a:t>
            </a:r>
            <a:endParaRPr lang="en-US" sz="1200" dirty="0"/>
          </a:p>
        </p:txBody>
      </p:sp>
      <p:sp>
        <p:nvSpPr>
          <p:cNvPr id="5" name="Text 3"/>
          <p:cNvSpPr txBox="1"/>
          <p:nvPr/>
        </p:nvSpPr>
        <p:spPr>
          <a:xfrm>
            <a:off x="6309360" y="1645920"/>
            <a:ext cx="5029200" cy="320040"/>
          </a:xfrm>
          <a:prstGeom prst="rect">
            <a:avLst/>
          </a:prstGeom>
          <a:noFill/>
          <a:ln/>
        </p:spPr>
        <p:txBody>
          <a:bodyPr wrap="square" lIns="0" tIns="0" rIns="0" bIns="0" rtlCol="0" anchor="ctr"/>
          <a:lstStyle/>
          <a:p>
            <a:pPr indent="0" marL="0">
              <a:buNone/>
            </a:pPr>
            <a:r>
              <a:rPr lang="en-US" sz="1200" b="1" spc="400" kern="0" dirty="0">
                <a:solidFill>
                  <a:srgbClr val="D9644A"/>
                </a:solidFill>
                <a:latin typeface="Calibri" pitchFamily="34" charset="0"/>
                <a:ea typeface="Calibri" pitchFamily="34" charset="-122"/>
                <a:cs typeface="Calibri" pitchFamily="34" charset="-120"/>
              </a:rPr>
              <a:t>LIMITATIONS AND NEXT STEPS</a:t>
            </a:r>
            <a:endParaRPr lang="en-US" sz="1200" dirty="0"/>
          </a:p>
        </p:txBody>
      </p:sp>
      <p:sp>
        <p:nvSpPr>
          <p:cNvPr id="6" name="Point"/>
          <p:cNvSpPr/>
          <p:nvPr/>
        </p:nvSpPr>
        <p:spPr>
          <a:xfrm>
            <a:off x="822960" y="2103120"/>
            <a:ext cx="5029200" cy="1097280"/>
          </a:xfrm>
          <a:prstGeom prst="roundRect">
            <a:avLst>
              <a:gd name="adj" fmla="val 8333"/>
            </a:avLst>
          </a:prstGeom>
          <a:solidFill>
            <a:srgbClr val="1D4034"/>
          </a:solidFill>
          <a:ln w="12700">
            <a:solidFill>
              <a:srgbClr val="1D4034"/>
            </a:solidFill>
            <a:prstDash val="solid"/>
          </a:ln>
        </p:spPr>
      </p:sp>
      <p:sp>
        <p:nvSpPr>
          <p:cNvPr id="7" name="Text 5"/>
          <p:cNvSpPr txBox="1"/>
          <p:nvPr/>
        </p:nvSpPr>
        <p:spPr>
          <a:xfrm>
            <a:off x="1005840" y="2103120"/>
            <a:ext cx="548640" cy="1097280"/>
          </a:xfrm>
          <a:prstGeom prst="rect">
            <a:avLst/>
          </a:prstGeom>
          <a:noFill/>
          <a:ln/>
        </p:spPr>
        <p:txBody>
          <a:bodyPr wrap="square" lIns="0" tIns="0" rIns="0" bIns="0" rtlCol="0" anchor="ctr"/>
          <a:lstStyle/>
          <a:p>
            <a:pPr indent="0" marL="0">
              <a:buNone/>
            </a:pPr>
            <a:r>
              <a:rPr lang="en-US" sz="3200" b="1" dirty="0">
                <a:solidFill>
                  <a:srgbClr val="C9A24B"/>
                </a:solidFill>
                <a:latin typeface="Cambria" pitchFamily="34" charset="0"/>
                <a:ea typeface="Cambria" pitchFamily="34" charset="-122"/>
                <a:cs typeface="Cambria" pitchFamily="34" charset="-120"/>
              </a:rPr>
              <a:t>1</a:t>
            </a:r>
            <a:endParaRPr lang="en-US" sz="3200" dirty="0"/>
          </a:p>
        </p:txBody>
      </p:sp>
      <p:sp>
        <p:nvSpPr>
          <p:cNvPr id="8" name="Text 6"/>
          <p:cNvSpPr txBox="1"/>
          <p:nvPr/>
        </p:nvSpPr>
        <p:spPr>
          <a:xfrm>
            <a:off x="1645920" y="2103120"/>
            <a:ext cx="406908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TF-IDF + Linear SVM: 0.82 test accuracy, 0.77 macro-F1, trained in about 3 seconds on CPU</a:t>
            </a:r>
            <a:endParaRPr lang="en-US" sz="1500" dirty="0"/>
          </a:p>
        </p:txBody>
      </p:sp>
      <p:sp>
        <p:nvSpPr>
          <p:cNvPr id="9" name="Point"/>
          <p:cNvSpPr/>
          <p:nvPr/>
        </p:nvSpPr>
        <p:spPr>
          <a:xfrm>
            <a:off x="822960" y="3383280"/>
            <a:ext cx="5029200" cy="1097280"/>
          </a:xfrm>
          <a:prstGeom prst="roundRect">
            <a:avLst>
              <a:gd name="adj" fmla="val 8333"/>
            </a:avLst>
          </a:prstGeom>
          <a:solidFill>
            <a:srgbClr val="1D4034"/>
          </a:solidFill>
          <a:ln w="12700">
            <a:solidFill>
              <a:srgbClr val="1D4034"/>
            </a:solidFill>
            <a:prstDash val="solid"/>
          </a:ln>
        </p:spPr>
      </p:sp>
      <p:sp>
        <p:nvSpPr>
          <p:cNvPr id="10" name="Text 8"/>
          <p:cNvSpPr txBox="1"/>
          <p:nvPr/>
        </p:nvSpPr>
        <p:spPr>
          <a:xfrm>
            <a:off x="1005840" y="3383280"/>
            <a:ext cx="548640" cy="1097280"/>
          </a:xfrm>
          <a:prstGeom prst="rect">
            <a:avLst/>
          </a:prstGeom>
          <a:noFill/>
          <a:ln/>
        </p:spPr>
        <p:txBody>
          <a:bodyPr wrap="square" lIns="0" tIns="0" rIns="0" bIns="0" rtlCol="0" anchor="ctr"/>
          <a:lstStyle/>
          <a:p>
            <a:pPr indent="0" marL="0">
              <a:buNone/>
            </a:pPr>
            <a:r>
              <a:rPr lang="en-US" sz="3200" b="1" dirty="0">
                <a:solidFill>
                  <a:srgbClr val="C9A24B"/>
                </a:solidFill>
                <a:latin typeface="Cambria" pitchFamily="34" charset="0"/>
                <a:ea typeface="Cambria" pitchFamily="34" charset="-122"/>
                <a:cs typeface="Cambria" pitchFamily="34" charset="-120"/>
              </a:rPr>
              <a:t>2</a:t>
            </a:r>
            <a:endParaRPr lang="en-US" sz="3200" dirty="0"/>
          </a:p>
        </p:txBody>
      </p:sp>
      <p:sp>
        <p:nvSpPr>
          <p:cNvPr id="11" name="Text 9"/>
          <p:cNvSpPr txBox="1"/>
          <p:nvPr/>
        </p:nvSpPr>
        <p:spPr>
          <a:xfrm>
            <a:off x="1645920" y="3383280"/>
            <a:ext cx="406908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It beats the paper's two model types (LDA 0.58, Doc2Vec 0.67 on our split)</a:t>
            </a:r>
            <a:endParaRPr lang="en-US" sz="1500" dirty="0"/>
          </a:p>
        </p:txBody>
      </p:sp>
      <p:sp>
        <p:nvSpPr>
          <p:cNvPr id="12" name="Point"/>
          <p:cNvSpPr/>
          <p:nvPr/>
        </p:nvSpPr>
        <p:spPr>
          <a:xfrm>
            <a:off x="822960" y="4663440"/>
            <a:ext cx="5029200" cy="1097280"/>
          </a:xfrm>
          <a:prstGeom prst="roundRect">
            <a:avLst>
              <a:gd name="adj" fmla="val 8333"/>
            </a:avLst>
          </a:prstGeom>
          <a:solidFill>
            <a:srgbClr val="1D4034"/>
          </a:solidFill>
          <a:ln w="12700">
            <a:solidFill>
              <a:srgbClr val="1D4034"/>
            </a:solidFill>
            <a:prstDash val="solid"/>
          </a:ln>
        </p:spPr>
      </p:sp>
      <p:sp>
        <p:nvSpPr>
          <p:cNvPr id="13" name="Text 11"/>
          <p:cNvSpPr txBox="1"/>
          <p:nvPr/>
        </p:nvSpPr>
        <p:spPr>
          <a:xfrm>
            <a:off x="1005840" y="4663440"/>
            <a:ext cx="548640" cy="1097280"/>
          </a:xfrm>
          <a:prstGeom prst="rect">
            <a:avLst/>
          </a:prstGeom>
          <a:noFill/>
          <a:ln/>
        </p:spPr>
        <p:txBody>
          <a:bodyPr wrap="square" lIns="0" tIns="0" rIns="0" bIns="0" rtlCol="0" anchor="ctr"/>
          <a:lstStyle/>
          <a:p>
            <a:pPr indent="0" marL="0">
              <a:buNone/>
            </a:pPr>
            <a:r>
              <a:rPr lang="en-US" sz="3200" b="1" dirty="0">
                <a:solidFill>
                  <a:srgbClr val="C9A24B"/>
                </a:solidFill>
                <a:latin typeface="Cambria" pitchFamily="34" charset="0"/>
                <a:ea typeface="Cambria" pitchFamily="34" charset="-122"/>
                <a:cs typeface="Cambria" pitchFamily="34" charset="-120"/>
              </a:rPr>
              <a:t>3</a:t>
            </a:r>
            <a:endParaRPr lang="en-US" sz="3200" dirty="0"/>
          </a:p>
        </p:txBody>
      </p:sp>
      <p:sp>
        <p:nvSpPr>
          <p:cNvPr id="14" name="Text 12"/>
          <p:cNvSpPr txBox="1"/>
          <p:nvPr/>
        </p:nvSpPr>
        <p:spPr>
          <a:xfrm>
            <a:off x="1645920" y="4663440"/>
            <a:ext cx="406908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Cross-validation (0.808 ± 0.020) confirms the result</a:t>
            </a:r>
            <a:endParaRPr lang="en-US" sz="1500" dirty="0"/>
          </a:p>
        </p:txBody>
      </p:sp>
      <p:sp>
        <p:nvSpPr>
          <p:cNvPr id="15" name="Point"/>
          <p:cNvSpPr/>
          <p:nvPr/>
        </p:nvSpPr>
        <p:spPr>
          <a:xfrm>
            <a:off x="6309360" y="2103120"/>
            <a:ext cx="5029200" cy="1097280"/>
          </a:xfrm>
          <a:prstGeom prst="roundRect">
            <a:avLst>
              <a:gd name="adj" fmla="val 8333"/>
            </a:avLst>
          </a:prstGeom>
          <a:solidFill>
            <a:srgbClr val="1D4034"/>
          </a:solidFill>
          <a:ln w="12700">
            <a:solidFill>
              <a:srgbClr val="1D4034"/>
            </a:solidFill>
            <a:prstDash val="solid"/>
          </a:ln>
        </p:spPr>
      </p:sp>
      <p:sp>
        <p:nvSpPr>
          <p:cNvPr id="16" name="Text 14"/>
          <p:cNvSpPr txBox="1"/>
          <p:nvPr/>
        </p:nvSpPr>
        <p:spPr>
          <a:xfrm>
            <a:off x="6492240" y="2103120"/>
            <a:ext cx="548640" cy="1097280"/>
          </a:xfrm>
          <a:prstGeom prst="rect">
            <a:avLst/>
          </a:prstGeom>
          <a:noFill/>
          <a:ln/>
        </p:spPr>
        <p:txBody>
          <a:bodyPr wrap="square" lIns="0" tIns="0" rIns="0" bIns="0" rtlCol="0" anchor="ctr"/>
          <a:lstStyle/>
          <a:p>
            <a:pPr indent="0" marL="0">
              <a:buNone/>
            </a:pPr>
            <a:r>
              <a:rPr lang="en-US" sz="3200" b="1" dirty="0">
                <a:solidFill>
                  <a:srgbClr val="D9644A"/>
                </a:solidFill>
                <a:latin typeface="Cambria" pitchFamily="34" charset="0"/>
                <a:ea typeface="Cambria" pitchFamily="34" charset="-122"/>
                <a:cs typeface="Cambria" pitchFamily="34" charset="-120"/>
              </a:rPr>
              <a:t>1</a:t>
            </a:r>
            <a:endParaRPr lang="en-US" sz="3200" dirty="0"/>
          </a:p>
        </p:txBody>
      </p:sp>
      <p:sp>
        <p:nvSpPr>
          <p:cNvPr id="17" name="Text 15"/>
          <p:cNvSpPr txBox="1"/>
          <p:nvPr/>
        </p:nvSpPr>
        <p:spPr>
          <a:xfrm>
            <a:off x="7132320" y="2103120"/>
            <a:ext cx="406908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Tiny classes (3 to 16 test documents) make per-class scores noisy</a:t>
            </a:r>
            <a:endParaRPr lang="en-US" sz="1500" dirty="0"/>
          </a:p>
        </p:txBody>
      </p:sp>
      <p:sp>
        <p:nvSpPr>
          <p:cNvPr id="18" name="Point"/>
          <p:cNvSpPr/>
          <p:nvPr/>
        </p:nvSpPr>
        <p:spPr>
          <a:xfrm>
            <a:off x="6309360" y="3383280"/>
            <a:ext cx="5029200" cy="1097280"/>
          </a:xfrm>
          <a:prstGeom prst="roundRect">
            <a:avLst>
              <a:gd name="adj" fmla="val 8333"/>
            </a:avLst>
          </a:prstGeom>
          <a:solidFill>
            <a:srgbClr val="1D4034"/>
          </a:solidFill>
          <a:ln w="12700">
            <a:solidFill>
              <a:srgbClr val="1D4034"/>
            </a:solidFill>
            <a:prstDash val="solid"/>
          </a:ln>
        </p:spPr>
      </p:sp>
      <p:sp>
        <p:nvSpPr>
          <p:cNvPr id="19" name="Text 17"/>
          <p:cNvSpPr txBox="1"/>
          <p:nvPr/>
        </p:nvSpPr>
        <p:spPr>
          <a:xfrm>
            <a:off x="6492240" y="3383280"/>
            <a:ext cx="548640" cy="1097280"/>
          </a:xfrm>
          <a:prstGeom prst="rect">
            <a:avLst/>
          </a:prstGeom>
          <a:noFill/>
          <a:ln/>
        </p:spPr>
        <p:txBody>
          <a:bodyPr wrap="square" lIns="0" tIns="0" rIns="0" bIns="0" rtlCol="0" anchor="ctr"/>
          <a:lstStyle/>
          <a:p>
            <a:pPr indent="0" marL="0">
              <a:buNone/>
            </a:pPr>
            <a:r>
              <a:rPr lang="en-US" sz="3200" b="1" dirty="0">
                <a:solidFill>
                  <a:srgbClr val="D9644A"/>
                </a:solidFill>
                <a:latin typeface="Cambria" pitchFamily="34" charset="0"/>
                <a:ea typeface="Cambria" pitchFamily="34" charset="-122"/>
                <a:cs typeface="Cambria" pitchFamily="34" charset="-120"/>
              </a:rPr>
              <a:t>2</a:t>
            </a:r>
            <a:endParaRPr lang="en-US" sz="3200" dirty="0"/>
          </a:p>
        </p:txBody>
      </p:sp>
      <p:sp>
        <p:nvSpPr>
          <p:cNvPr id="20" name="Text 18"/>
          <p:cNvSpPr txBox="1"/>
          <p:nvPr/>
        </p:nvSpPr>
        <p:spPr>
          <a:xfrm>
            <a:off x="7132320" y="3383280"/>
            <a:ext cx="406908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First 30,000 characters and single words only; some case-name words</a:t>
            </a:r>
            <a:endParaRPr lang="en-US" sz="1500" dirty="0"/>
          </a:p>
        </p:txBody>
      </p:sp>
      <p:sp>
        <p:nvSpPr>
          <p:cNvPr id="21" name="Point"/>
          <p:cNvSpPr/>
          <p:nvPr/>
        </p:nvSpPr>
        <p:spPr>
          <a:xfrm>
            <a:off x="6309360" y="4663440"/>
            <a:ext cx="5029200" cy="1097280"/>
          </a:xfrm>
          <a:prstGeom prst="roundRect">
            <a:avLst>
              <a:gd name="adj" fmla="val 8333"/>
            </a:avLst>
          </a:prstGeom>
          <a:solidFill>
            <a:srgbClr val="1D4034"/>
          </a:solidFill>
          <a:ln w="12700">
            <a:solidFill>
              <a:srgbClr val="1D4034"/>
            </a:solidFill>
            <a:prstDash val="solid"/>
          </a:ln>
        </p:spPr>
      </p:sp>
      <p:sp>
        <p:nvSpPr>
          <p:cNvPr id="22" name="Text 20"/>
          <p:cNvSpPr txBox="1"/>
          <p:nvPr/>
        </p:nvSpPr>
        <p:spPr>
          <a:xfrm>
            <a:off x="6492240" y="4663440"/>
            <a:ext cx="548640" cy="1097280"/>
          </a:xfrm>
          <a:prstGeom prst="rect">
            <a:avLst/>
          </a:prstGeom>
          <a:noFill/>
          <a:ln/>
        </p:spPr>
        <p:txBody>
          <a:bodyPr wrap="square" lIns="0" tIns="0" rIns="0" bIns="0" rtlCol="0" anchor="ctr"/>
          <a:lstStyle/>
          <a:p>
            <a:pPr indent="0" marL="0">
              <a:buNone/>
            </a:pPr>
            <a:r>
              <a:rPr lang="en-US" sz="3200" b="1" dirty="0">
                <a:solidFill>
                  <a:srgbClr val="D9644A"/>
                </a:solidFill>
                <a:latin typeface="Cambria" pitchFamily="34" charset="0"/>
                <a:ea typeface="Cambria" pitchFamily="34" charset="-122"/>
                <a:cs typeface="Cambria" pitchFamily="34" charset="-120"/>
              </a:rPr>
              <a:t>3</a:t>
            </a:r>
            <a:endParaRPr lang="en-US" sz="3200" dirty="0"/>
          </a:p>
        </p:txBody>
      </p:sp>
      <p:sp>
        <p:nvSpPr>
          <p:cNvPr id="23" name="Text 21"/>
          <p:cNvSpPr txBox="1"/>
          <p:nvPr/>
        </p:nvSpPr>
        <p:spPr>
          <a:xfrm>
            <a:off x="7132320" y="4663440"/>
            <a:ext cx="4069080" cy="10972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Next: word pairs, a time-based split, Longformer or Legal-BERT on a GPU</a:t>
            </a:r>
            <a:endParaRPr lang="en-US" sz="1500" dirty="0"/>
          </a:p>
        </p:txBody>
      </p:sp>
      <p:sp>
        <p:nvSpPr>
          <p:cNvPr id="24" name="Text 22"/>
          <p:cNvSpPr txBox="1"/>
          <p:nvPr/>
        </p:nvSpPr>
        <p:spPr>
          <a:xfrm>
            <a:off x="822960" y="6080760"/>
            <a:ext cx="10058400" cy="320040"/>
          </a:xfrm>
          <a:prstGeom prst="rect">
            <a:avLst/>
          </a:prstGeom>
          <a:noFill/>
          <a:ln/>
        </p:spPr>
        <p:txBody>
          <a:bodyPr wrap="square" lIns="0" tIns="0" rIns="0" bIns="0" rtlCol="0" anchor="ctr"/>
          <a:lstStyle/>
          <a:p>
            <a:pPr indent="0" marL="0">
              <a:buNone/>
            </a:pPr>
            <a:r>
              <a:rPr lang="en-US" sz="1300" dirty="0">
                <a:solidFill>
                  <a:srgbClr val="F0DDA8"/>
                </a:solidFill>
                <a:latin typeface="Calibri" pitchFamily="34" charset="0"/>
                <a:ea typeface="Calibri" pitchFamily="34" charset="-122"/>
                <a:cs typeface="Calibri" pitchFamily="34" charset="-120"/>
              </a:rPr>
              <a:t>github.com/KshitijShetty27/Legal-Text-Classification_ML_Mini_Project</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11480"/>
            <a:ext cx="1097280" cy="320040"/>
          </a:xfrm>
          <a:prstGeom prst="rect">
            <a:avLst/>
          </a:prstGeom>
          <a:noFill/>
          <a:ln/>
        </p:spPr>
        <p:txBody>
          <a:bodyPr wrap="square" lIns="0" tIns="0" rIns="0" bIns="0" rtlCol="0" anchor="ctr"/>
          <a:lstStyle/>
          <a:p>
            <a:pPr indent="0" marL="0">
              <a:buNone/>
            </a:pPr>
            <a:r>
              <a:rPr lang="en-US" sz="1600" b="1" dirty="0">
                <a:solidFill>
                  <a:srgbClr val="C9A24B"/>
                </a:solidFill>
                <a:latin typeface="Cambria" pitchFamily="34" charset="0"/>
                <a:ea typeface="Cambria" pitchFamily="34" charset="-122"/>
                <a:cs typeface="Cambria" pitchFamily="34" charset="-120"/>
              </a:rPr>
              <a:t>§ A</a:t>
            </a:r>
            <a:endParaRPr lang="en-US" sz="1600" dirty="0"/>
          </a:p>
        </p:txBody>
      </p:sp>
      <p:sp>
        <p:nvSpPr>
          <p:cNvPr id="3" name="Text 1"/>
          <p:cNvSpPr txBox="1"/>
          <p:nvPr/>
        </p:nvSpPr>
        <p:spPr>
          <a:xfrm>
            <a:off x="1463040" y="411480"/>
            <a:ext cx="7315200" cy="320040"/>
          </a:xfrm>
          <a:prstGeom prst="rect">
            <a:avLst/>
          </a:prstGeom>
          <a:noFill/>
          <a:ln/>
        </p:spPr>
        <p:txBody>
          <a:bodyPr wrap="square" lIns="0" tIns="0" rIns="0" bIns="0" rtlCol="0" anchor="ctr"/>
          <a:lstStyle/>
          <a:p>
            <a:pPr indent="0" marL="0">
              <a:buNone/>
            </a:pPr>
            <a:r>
              <a:rPr lang="en-US" sz="1200" spc="300" kern="0" dirty="0">
                <a:solidFill>
                  <a:srgbClr val="5C6B64"/>
                </a:solidFill>
                <a:latin typeface="Calibri" pitchFamily="34" charset="0"/>
                <a:ea typeface="Calibri" pitchFamily="34" charset="-122"/>
                <a:cs typeface="Calibri" pitchFamily="34" charset="-120"/>
              </a:rPr>
              <a:t>BACKUP</a:t>
            </a:r>
            <a:endParaRPr lang="en-US" sz="1200" dirty="0"/>
          </a:p>
        </p:txBody>
      </p:sp>
      <p:sp>
        <p:nvSpPr>
          <p:cNvPr id="4" name="Text 2"/>
          <p:cNvSpPr txBox="1"/>
          <p:nvPr/>
        </p:nvSpPr>
        <p:spPr>
          <a:xfrm>
            <a:off x="640080" y="749808"/>
            <a:ext cx="10881360" cy="548640"/>
          </a:xfrm>
          <a:prstGeom prst="rect">
            <a:avLst/>
          </a:prstGeom>
          <a:noFill/>
          <a:ln/>
        </p:spPr>
        <p:txBody>
          <a:bodyPr wrap="square" lIns="0" tIns="0" rIns="0" bIns="0" rtlCol="0" anchor="t"/>
          <a:lstStyle/>
          <a:p>
            <a:pPr indent="0" marL="0">
              <a:buNone/>
            </a:pPr>
            <a:r>
              <a:rPr lang="en-US" sz="3200" b="1" dirty="0">
                <a:solidFill>
                  <a:srgbClr val="10261F"/>
                </a:solidFill>
                <a:latin typeface="Cambria" pitchFamily="34" charset="0"/>
                <a:ea typeface="Cambria" pitchFamily="34" charset="-122"/>
                <a:cs typeface="Cambria" pitchFamily="34" charset="-120"/>
              </a:rPr>
              <a:t>Quick glossary</a:t>
            </a:r>
            <a:endParaRPr lang="en-US" sz="3200" dirty="0"/>
          </a:p>
        </p:txBody>
      </p:sp>
      <p:sp>
        <p:nvSpPr>
          <p:cNvPr id="5" name="Text 3"/>
          <p:cNvSpPr txBox="1"/>
          <p:nvPr/>
        </p:nvSpPr>
        <p:spPr>
          <a:xfrm>
            <a:off x="640080" y="1298448"/>
            <a:ext cx="10881360" cy="365760"/>
          </a:xfrm>
          <a:prstGeom prst="rect">
            <a:avLst/>
          </a:prstGeom>
          <a:noFill/>
          <a:ln/>
        </p:spPr>
        <p:txBody>
          <a:bodyPr wrap="square" lIns="0" tIns="0" rIns="0" bIns="0" rtlCol="0" anchor="t"/>
          <a:lstStyle/>
          <a:p>
            <a:pPr indent="0" marL="0">
              <a:buNone/>
            </a:pPr>
            <a:r>
              <a:rPr lang="en-US" sz="1600" i="1" dirty="0">
                <a:solidFill>
                  <a:srgbClr val="2F7A5F"/>
                </a:solidFill>
                <a:latin typeface="Calibri" pitchFamily="34" charset="0"/>
                <a:ea typeface="Calibri" pitchFamily="34" charset="-122"/>
                <a:cs typeface="Calibri" pitchFamily="34" charset="-120"/>
              </a:rPr>
              <a:t>If a term comes up in questions, here is the plain-English version.</a:t>
            </a:r>
            <a:endParaRPr lang="en-US" sz="1600" dirty="0"/>
          </a:p>
        </p:txBody>
      </p:sp>
      <p:sp>
        <p:nvSpPr>
          <p:cNvPr id="6" name="Term Issue area"/>
          <p:cNvSpPr/>
          <p:nvPr/>
        </p:nvSpPr>
        <p:spPr>
          <a:xfrm>
            <a:off x="640080" y="1920240"/>
            <a:ext cx="3520440" cy="1965960"/>
          </a:xfrm>
          <a:prstGeom prst="roundRect">
            <a:avLst>
              <a:gd name="adj" fmla="val 5581"/>
            </a:avLst>
          </a:prstGeom>
          <a:solidFill>
            <a:srgbClr val="EEF3EF"/>
          </a:solidFill>
          <a:ln w="12700">
            <a:solidFill>
              <a:srgbClr val="EEF3EF"/>
            </a:solidFill>
            <a:prstDash val="solid"/>
          </a:ln>
        </p:spPr>
      </p:sp>
      <p:sp>
        <p:nvSpPr>
          <p:cNvPr id="7" name="Text 5"/>
          <p:cNvSpPr txBox="1"/>
          <p:nvPr/>
        </p:nvSpPr>
        <p:spPr>
          <a:xfrm>
            <a:off x="914400" y="2103120"/>
            <a:ext cx="3017520" cy="411480"/>
          </a:xfrm>
          <a:prstGeom prst="rect">
            <a:avLst/>
          </a:prstGeom>
          <a:noFill/>
          <a:ln/>
        </p:spPr>
        <p:txBody>
          <a:bodyPr wrap="square" lIns="0" tIns="0" rIns="0" bIns="0" rtlCol="0" anchor="ctr"/>
          <a:lstStyle/>
          <a:p>
            <a:pPr indent="0" marL="0">
              <a:buNone/>
            </a:pPr>
            <a:r>
              <a:rPr lang="en-US" sz="2000" b="1" dirty="0">
                <a:solidFill>
                  <a:srgbClr val="1D4034"/>
                </a:solidFill>
                <a:latin typeface="Cambria" pitchFamily="34" charset="0"/>
                <a:ea typeface="Cambria" pitchFamily="34" charset="-122"/>
                <a:cs typeface="Cambria" pitchFamily="34" charset="-120"/>
              </a:rPr>
              <a:t>Issue area</a:t>
            </a:r>
            <a:endParaRPr lang="en-US" sz="2000" dirty="0"/>
          </a:p>
        </p:txBody>
      </p:sp>
      <p:sp>
        <p:nvSpPr>
          <p:cNvPr id="8" name="Text 6"/>
          <p:cNvSpPr txBox="1"/>
          <p:nvPr/>
        </p:nvSpPr>
        <p:spPr>
          <a:xfrm>
            <a:off x="914400" y="2606040"/>
            <a:ext cx="3017520" cy="1143000"/>
          </a:xfrm>
          <a:prstGeom prst="rect">
            <a:avLst/>
          </a:prstGeom>
          <a:noFill/>
          <a:ln/>
        </p:spPr>
        <p:txBody>
          <a:bodyPr wrap="square" lIns="0" tIns="0" rIns="0" bIns="0" rtlCol="0" anchor="t"/>
          <a:lstStyle/>
          <a:p>
            <a:pPr indent="0" marL="0">
              <a:buNone/>
            </a:pPr>
            <a:r>
              <a:rPr lang="en-US" sz="1400" dirty="0">
                <a:solidFill>
                  <a:srgbClr val="10261F"/>
                </a:solidFill>
                <a:latin typeface="Calibri" pitchFamily="34" charset="0"/>
                <a:ea typeface="Calibri" pitchFamily="34" charset="-122"/>
                <a:cs typeface="Calibri" pitchFamily="34" charset="-120"/>
              </a:rPr>
              <a:t>The legal topic label given by expert coders in the Supreme Court Database. We predict one of 13.</a:t>
            </a:r>
            <a:endParaRPr lang="en-US" sz="1400" dirty="0"/>
          </a:p>
        </p:txBody>
      </p:sp>
      <p:sp>
        <p:nvSpPr>
          <p:cNvPr id="9" name="Term TF-IDF"/>
          <p:cNvSpPr/>
          <p:nvPr/>
        </p:nvSpPr>
        <p:spPr>
          <a:xfrm>
            <a:off x="4343400" y="1920240"/>
            <a:ext cx="3520440" cy="1965960"/>
          </a:xfrm>
          <a:prstGeom prst="roundRect">
            <a:avLst>
              <a:gd name="adj" fmla="val 5581"/>
            </a:avLst>
          </a:prstGeom>
          <a:solidFill>
            <a:srgbClr val="1D4034"/>
          </a:solidFill>
          <a:ln w="12700">
            <a:solidFill>
              <a:srgbClr val="1D4034"/>
            </a:solidFill>
            <a:prstDash val="solid"/>
          </a:ln>
        </p:spPr>
      </p:sp>
      <p:sp>
        <p:nvSpPr>
          <p:cNvPr id="10" name="Text 8"/>
          <p:cNvSpPr txBox="1"/>
          <p:nvPr/>
        </p:nvSpPr>
        <p:spPr>
          <a:xfrm>
            <a:off x="4617720" y="2103120"/>
            <a:ext cx="3017520" cy="411480"/>
          </a:xfrm>
          <a:prstGeom prst="rect">
            <a:avLst/>
          </a:prstGeom>
          <a:noFill/>
          <a:ln/>
        </p:spPr>
        <p:txBody>
          <a:bodyPr wrap="square" lIns="0" tIns="0" rIns="0" bIns="0" rtlCol="0" anchor="ctr"/>
          <a:lstStyle/>
          <a:p>
            <a:pPr indent="0" marL="0">
              <a:buNone/>
            </a:pPr>
            <a:r>
              <a:rPr lang="en-US" sz="2000" b="1" dirty="0">
                <a:solidFill>
                  <a:srgbClr val="C9A24B"/>
                </a:solidFill>
                <a:latin typeface="Cambria" pitchFamily="34" charset="0"/>
                <a:ea typeface="Cambria" pitchFamily="34" charset="-122"/>
                <a:cs typeface="Cambria" pitchFamily="34" charset="-120"/>
              </a:rPr>
              <a:t>TF-IDF</a:t>
            </a:r>
            <a:endParaRPr lang="en-US" sz="2000" dirty="0"/>
          </a:p>
        </p:txBody>
      </p:sp>
      <p:sp>
        <p:nvSpPr>
          <p:cNvPr id="11" name="Text 9"/>
          <p:cNvSpPr txBox="1"/>
          <p:nvPr/>
        </p:nvSpPr>
        <p:spPr>
          <a:xfrm>
            <a:off x="4617720" y="2606040"/>
            <a:ext cx="3017520" cy="11430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Scores each word by how often it appears in an opinion and how rare it is across all opinions.</a:t>
            </a:r>
            <a:endParaRPr lang="en-US" sz="1400" dirty="0"/>
          </a:p>
        </p:txBody>
      </p:sp>
      <p:sp>
        <p:nvSpPr>
          <p:cNvPr id="12" name="Term Linear SVM"/>
          <p:cNvSpPr/>
          <p:nvPr/>
        </p:nvSpPr>
        <p:spPr>
          <a:xfrm>
            <a:off x="8046720" y="1920240"/>
            <a:ext cx="3520440" cy="1965960"/>
          </a:xfrm>
          <a:prstGeom prst="roundRect">
            <a:avLst>
              <a:gd name="adj" fmla="val 5581"/>
            </a:avLst>
          </a:prstGeom>
          <a:solidFill>
            <a:srgbClr val="EEF3EF"/>
          </a:solidFill>
          <a:ln w="12700">
            <a:solidFill>
              <a:srgbClr val="EEF3EF"/>
            </a:solidFill>
            <a:prstDash val="solid"/>
          </a:ln>
        </p:spPr>
      </p:sp>
      <p:sp>
        <p:nvSpPr>
          <p:cNvPr id="13" name="Text 11"/>
          <p:cNvSpPr txBox="1"/>
          <p:nvPr/>
        </p:nvSpPr>
        <p:spPr>
          <a:xfrm>
            <a:off x="8321040" y="2103120"/>
            <a:ext cx="3017520" cy="411480"/>
          </a:xfrm>
          <a:prstGeom prst="rect">
            <a:avLst/>
          </a:prstGeom>
          <a:noFill/>
          <a:ln/>
        </p:spPr>
        <p:txBody>
          <a:bodyPr wrap="square" lIns="0" tIns="0" rIns="0" bIns="0" rtlCol="0" anchor="ctr"/>
          <a:lstStyle/>
          <a:p>
            <a:pPr indent="0" marL="0">
              <a:buNone/>
            </a:pPr>
            <a:r>
              <a:rPr lang="en-US" sz="2000" b="1" dirty="0">
                <a:solidFill>
                  <a:srgbClr val="1D4034"/>
                </a:solidFill>
                <a:latin typeface="Cambria" pitchFamily="34" charset="0"/>
                <a:ea typeface="Cambria" pitchFamily="34" charset="-122"/>
                <a:cs typeface="Cambria" pitchFamily="34" charset="-120"/>
              </a:rPr>
              <a:t>Linear SVM</a:t>
            </a:r>
            <a:endParaRPr lang="en-US" sz="2000" dirty="0"/>
          </a:p>
        </p:txBody>
      </p:sp>
      <p:sp>
        <p:nvSpPr>
          <p:cNvPr id="14" name="Text 12"/>
          <p:cNvSpPr txBox="1"/>
          <p:nvPr/>
        </p:nvSpPr>
        <p:spPr>
          <a:xfrm>
            <a:off x="8321040" y="2606040"/>
            <a:ext cx="3017520" cy="1143000"/>
          </a:xfrm>
          <a:prstGeom prst="rect">
            <a:avLst/>
          </a:prstGeom>
          <a:noFill/>
          <a:ln/>
        </p:spPr>
        <p:txBody>
          <a:bodyPr wrap="square" lIns="0" tIns="0" rIns="0" bIns="0" rtlCol="0" anchor="t"/>
          <a:lstStyle/>
          <a:p>
            <a:pPr indent="0" marL="0">
              <a:buNone/>
            </a:pPr>
            <a:r>
              <a:rPr lang="en-US" sz="1400" dirty="0">
                <a:solidFill>
                  <a:srgbClr val="10261F"/>
                </a:solidFill>
                <a:latin typeface="Calibri" pitchFamily="34" charset="0"/>
                <a:ea typeface="Calibri" pitchFamily="34" charset="-122"/>
                <a:cs typeface="Calibri" pitchFamily="34" charset="-120"/>
              </a:rPr>
              <a:t>A classifier that gives every word a weight per class, so predictions can be explained by words.</a:t>
            </a:r>
            <a:endParaRPr lang="en-US" sz="1400" dirty="0"/>
          </a:p>
        </p:txBody>
      </p:sp>
      <p:sp>
        <p:nvSpPr>
          <p:cNvPr id="15" name="Term Macro-F1"/>
          <p:cNvSpPr/>
          <p:nvPr/>
        </p:nvSpPr>
        <p:spPr>
          <a:xfrm>
            <a:off x="640080" y="4069080"/>
            <a:ext cx="3520440" cy="1965960"/>
          </a:xfrm>
          <a:prstGeom prst="roundRect">
            <a:avLst>
              <a:gd name="adj" fmla="val 5581"/>
            </a:avLst>
          </a:prstGeom>
          <a:solidFill>
            <a:srgbClr val="1D4034"/>
          </a:solidFill>
          <a:ln w="12700">
            <a:solidFill>
              <a:srgbClr val="1D4034"/>
            </a:solidFill>
            <a:prstDash val="solid"/>
          </a:ln>
        </p:spPr>
      </p:sp>
      <p:sp>
        <p:nvSpPr>
          <p:cNvPr id="16" name="Text 14"/>
          <p:cNvSpPr txBox="1"/>
          <p:nvPr/>
        </p:nvSpPr>
        <p:spPr>
          <a:xfrm>
            <a:off x="914400" y="4251960"/>
            <a:ext cx="3017520" cy="411480"/>
          </a:xfrm>
          <a:prstGeom prst="rect">
            <a:avLst/>
          </a:prstGeom>
          <a:noFill/>
          <a:ln/>
        </p:spPr>
        <p:txBody>
          <a:bodyPr wrap="square" lIns="0" tIns="0" rIns="0" bIns="0" rtlCol="0" anchor="ctr"/>
          <a:lstStyle/>
          <a:p>
            <a:pPr indent="0" marL="0">
              <a:buNone/>
            </a:pPr>
            <a:r>
              <a:rPr lang="en-US" sz="2000" b="1" dirty="0">
                <a:solidFill>
                  <a:srgbClr val="C9A24B"/>
                </a:solidFill>
                <a:latin typeface="Cambria" pitchFamily="34" charset="0"/>
                <a:ea typeface="Cambria" pitchFamily="34" charset="-122"/>
                <a:cs typeface="Cambria" pitchFamily="34" charset="-120"/>
              </a:rPr>
              <a:t>Macro-F1</a:t>
            </a:r>
            <a:endParaRPr lang="en-US" sz="2000" dirty="0"/>
          </a:p>
        </p:txBody>
      </p:sp>
      <p:sp>
        <p:nvSpPr>
          <p:cNvPr id="17" name="Text 15"/>
          <p:cNvSpPr txBox="1"/>
          <p:nvPr/>
        </p:nvSpPr>
        <p:spPr>
          <a:xfrm>
            <a:off x="914400" y="4754880"/>
            <a:ext cx="3017520" cy="11430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F1 score averaged over classes, so small classes count as much as large ones.</a:t>
            </a:r>
            <a:endParaRPr lang="en-US" sz="1400" dirty="0"/>
          </a:p>
        </p:txBody>
      </p:sp>
      <p:sp>
        <p:nvSpPr>
          <p:cNvPr id="18" name="Term Data leakage"/>
          <p:cNvSpPr/>
          <p:nvPr/>
        </p:nvSpPr>
        <p:spPr>
          <a:xfrm>
            <a:off x="4343400" y="4069080"/>
            <a:ext cx="3520440" cy="1965960"/>
          </a:xfrm>
          <a:prstGeom prst="roundRect">
            <a:avLst>
              <a:gd name="adj" fmla="val 5581"/>
            </a:avLst>
          </a:prstGeom>
          <a:solidFill>
            <a:srgbClr val="EEF3EF"/>
          </a:solidFill>
          <a:ln w="12700">
            <a:solidFill>
              <a:srgbClr val="EEF3EF"/>
            </a:solidFill>
            <a:prstDash val="solid"/>
          </a:ln>
        </p:spPr>
      </p:sp>
      <p:sp>
        <p:nvSpPr>
          <p:cNvPr id="19" name="Text 17"/>
          <p:cNvSpPr txBox="1"/>
          <p:nvPr/>
        </p:nvSpPr>
        <p:spPr>
          <a:xfrm>
            <a:off x="4617720" y="4251960"/>
            <a:ext cx="3017520" cy="411480"/>
          </a:xfrm>
          <a:prstGeom prst="rect">
            <a:avLst/>
          </a:prstGeom>
          <a:noFill/>
          <a:ln/>
        </p:spPr>
        <p:txBody>
          <a:bodyPr wrap="square" lIns="0" tIns="0" rIns="0" bIns="0" rtlCol="0" anchor="ctr"/>
          <a:lstStyle/>
          <a:p>
            <a:pPr indent="0" marL="0">
              <a:buNone/>
            </a:pPr>
            <a:r>
              <a:rPr lang="en-US" sz="2000" b="1" dirty="0">
                <a:solidFill>
                  <a:srgbClr val="1D4034"/>
                </a:solidFill>
                <a:latin typeface="Cambria" pitchFamily="34" charset="0"/>
                <a:ea typeface="Cambria" pitchFamily="34" charset="-122"/>
                <a:cs typeface="Cambria" pitchFamily="34" charset="-120"/>
              </a:rPr>
              <a:t>Data leakage</a:t>
            </a:r>
            <a:endParaRPr lang="en-US" sz="2000" dirty="0"/>
          </a:p>
        </p:txBody>
      </p:sp>
      <p:sp>
        <p:nvSpPr>
          <p:cNvPr id="20" name="Text 18"/>
          <p:cNvSpPr txBox="1"/>
          <p:nvPr/>
        </p:nvSpPr>
        <p:spPr>
          <a:xfrm>
            <a:off x="4617720" y="4754880"/>
            <a:ext cx="3017520" cy="1143000"/>
          </a:xfrm>
          <a:prstGeom prst="rect">
            <a:avLst/>
          </a:prstGeom>
          <a:noFill/>
          <a:ln/>
        </p:spPr>
        <p:txBody>
          <a:bodyPr wrap="square" lIns="0" tIns="0" rIns="0" bIns="0" rtlCol="0" anchor="t"/>
          <a:lstStyle/>
          <a:p>
            <a:pPr indent="0" marL="0">
              <a:buNone/>
            </a:pPr>
            <a:r>
              <a:rPr lang="en-US" sz="1400" dirty="0">
                <a:solidFill>
                  <a:srgbClr val="10261F"/>
                </a:solidFill>
                <a:latin typeface="Calibri" pitchFamily="34" charset="0"/>
                <a:ea typeface="Calibri" pitchFamily="34" charset="-122"/>
                <a:cs typeface="Calibri" pitchFamily="34" charset="-120"/>
              </a:rPr>
              <a:t>Information from validation or test data sneaking into training. We split first and fit only on training data.</a:t>
            </a:r>
            <a:endParaRPr lang="en-US" sz="1400" dirty="0"/>
          </a:p>
        </p:txBody>
      </p:sp>
      <p:sp>
        <p:nvSpPr>
          <p:cNvPr id="21" name="Term LDA / Doc2Vec"/>
          <p:cNvSpPr/>
          <p:nvPr/>
        </p:nvSpPr>
        <p:spPr>
          <a:xfrm>
            <a:off x="8046720" y="4069080"/>
            <a:ext cx="3520440" cy="1965960"/>
          </a:xfrm>
          <a:prstGeom prst="roundRect">
            <a:avLst>
              <a:gd name="adj" fmla="val 5581"/>
            </a:avLst>
          </a:prstGeom>
          <a:solidFill>
            <a:srgbClr val="1D4034"/>
          </a:solidFill>
          <a:ln w="12700">
            <a:solidFill>
              <a:srgbClr val="1D4034"/>
            </a:solidFill>
            <a:prstDash val="solid"/>
          </a:ln>
        </p:spPr>
      </p:sp>
      <p:sp>
        <p:nvSpPr>
          <p:cNvPr id="22" name="Text 20"/>
          <p:cNvSpPr txBox="1"/>
          <p:nvPr/>
        </p:nvSpPr>
        <p:spPr>
          <a:xfrm>
            <a:off x="8321040" y="4251960"/>
            <a:ext cx="3017520" cy="411480"/>
          </a:xfrm>
          <a:prstGeom prst="rect">
            <a:avLst/>
          </a:prstGeom>
          <a:noFill/>
          <a:ln/>
        </p:spPr>
        <p:txBody>
          <a:bodyPr wrap="square" lIns="0" tIns="0" rIns="0" bIns="0" rtlCol="0" anchor="ctr"/>
          <a:lstStyle/>
          <a:p>
            <a:pPr indent="0" marL="0">
              <a:buNone/>
            </a:pPr>
            <a:r>
              <a:rPr lang="en-US" sz="2000" b="1" dirty="0">
                <a:solidFill>
                  <a:srgbClr val="C9A24B"/>
                </a:solidFill>
                <a:latin typeface="Cambria" pitchFamily="34" charset="0"/>
                <a:ea typeface="Cambria" pitchFamily="34" charset="-122"/>
                <a:cs typeface="Cambria" pitchFamily="34" charset="-120"/>
              </a:rPr>
              <a:t>LDA / Doc2Vec</a:t>
            </a:r>
            <a:endParaRPr lang="en-US" sz="2000" dirty="0"/>
          </a:p>
        </p:txBody>
      </p:sp>
      <p:sp>
        <p:nvSpPr>
          <p:cNvPr id="23" name="Text 21"/>
          <p:cNvSpPr txBox="1"/>
          <p:nvPr/>
        </p:nvSpPr>
        <p:spPr>
          <a:xfrm>
            <a:off x="8321040" y="4754880"/>
            <a:ext cx="3017520" cy="11430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Unsupervised ways to summarise a document: 25 topic proportions (LDA) or a 100-number vector (Doc2Vec). Used in the paper.</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LawLibrary">
  <a:themeElements>
    <a:clrScheme name="LawLibrary">
      <a:dk1>
        <a:srgbClr val="10261F"/>
      </a:dk1>
      <a:lt1>
        <a:srgbClr val="FFFFFF"/>
      </a:lt1>
      <a:dk2>
        <a:srgbClr val="1D4034"/>
      </a:dk2>
      <a:lt2>
        <a:srgbClr val="EEF3EF"/>
      </a:lt2>
      <a:accent1>
        <a:srgbClr val="C9A24B"/>
      </a:accent1>
      <a:accent2>
        <a:srgbClr val="2F7A5F"/>
      </a:accent2>
      <a:accent3>
        <a:srgbClr val="D9644A"/>
      </a:accent3>
      <a:accent4>
        <a:srgbClr val="7FB59C"/>
      </a:accent4>
      <a:accent5>
        <a:srgbClr val="8A9A92"/>
      </a:accent5>
      <a:accent6>
        <a:srgbClr val="F0DDA8"/>
      </a:accent6>
      <a:hlink>
        <a:srgbClr val="C9A24B"/>
      </a:hlink>
      <a:folHlink>
        <a:srgbClr val="8A9A92"/>
      </a:folHlink>
    </a:clrScheme>
    <a:fontScheme name="LawLibra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of Legal Text</dc:title>
  <dc:subject>PptxGenJS Presentation</dc:subject>
  <dc:creator>PptxGenJS</dc:creator>
  <cp:lastModifiedBy>PptxGenJS</cp:lastModifiedBy>
  <cp:revision>1</cp:revision>
  <dcterms:created xsi:type="dcterms:W3CDTF">2026-10-13T03:59:12Z</dcterms:created>
  <dcterms:modified xsi:type="dcterms:W3CDTF">2026-10-13T03:59:12Z</dcterms:modified>
</cp:coreProperties>
</file>